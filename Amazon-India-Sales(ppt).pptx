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BF9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29955" y="4844796"/>
            <a:ext cx="1071372" cy="2560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3209" y="1634693"/>
            <a:ext cx="3699510" cy="876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9393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9393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9393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50" b="0" i="0">
                <a:solidFill>
                  <a:srgbClr val="39393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9393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rgbClr val="39393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BF9F7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28431" y="4844796"/>
            <a:ext cx="1072896" cy="2560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59156" y="309499"/>
            <a:ext cx="8425687" cy="3384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rgbClr val="39393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38242" y="1258646"/>
            <a:ext cx="3755390" cy="32372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50" b="0" i="0">
                <a:solidFill>
                  <a:srgbClr val="393939"/>
                </a:solidFill>
                <a:latin typeface="Georgia"/>
                <a:cs typeface="Georg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 marR="5080">
              <a:lnSpc>
                <a:spcPct val="103000"/>
              </a:lnSpc>
            </a:pPr>
            <a:r>
              <a:rPr dirty="0" sz="2750" spc="105"/>
              <a:t>Amazon</a:t>
            </a:r>
            <a:r>
              <a:rPr dirty="0" sz="2750" spc="400"/>
              <a:t> </a:t>
            </a:r>
            <a:r>
              <a:rPr dirty="0" sz="2750"/>
              <a:t>India:</a:t>
            </a:r>
            <a:r>
              <a:rPr dirty="0" sz="2750" spc="290"/>
              <a:t> </a:t>
            </a:r>
            <a:r>
              <a:rPr dirty="0" sz="2750" spc="45"/>
              <a:t>Sales </a:t>
            </a:r>
            <a:r>
              <a:rPr dirty="0" sz="2750" spc="114"/>
              <a:t>Performance</a:t>
            </a:r>
            <a:r>
              <a:rPr dirty="0" sz="2750" spc="320"/>
              <a:t> </a:t>
            </a:r>
            <a:r>
              <a:rPr dirty="0" sz="2750" spc="70"/>
              <a:t>Analysis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483209" y="2806700"/>
            <a:ext cx="4751070" cy="346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5" b="1">
                <a:solidFill>
                  <a:srgbClr val="4A4A4A"/>
                </a:solidFill>
                <a:latin typeface="Georgia"/>
                <a:cs typeface="Georgia"/>
              </a:rPr>
              <a:t>April</a:t>
            </a:r>
            <a:r>
              <a:rPr dirty="0" sz="1100" spc="-25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85" b="1">
                <a:solidFill>
                  <a:srgbClr val="4A4A4A"/>
                </a:solidFill>
                <a:latin typeface="Georgia"/>
                <a:cs typeface="Georgia"/>
              </a:rPr>
              <a:t>–</a:t>
            </a:r>
            <a:r>
              <a:rPr dirty="0" sz="1100" spc="-95" b="1">
                <a:solidFill>
                  <a:srgbClr val="4A4A4A"/>
                </a:solidFill>
                <a:latin typeface="Georgia"/>
                <a:cs typeface="Georgia"/>
              </a:rPr>
              <a:t>June</a:t>
            </a:r>
            <a:r>
              <a:rPr dirty="0" sz="1100" spc="-60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80" b="1">
                <a:solidFill>
                  <a:srgbClr val="4A4A4A"/>
                </a:solidFill>
                <a:latin typeface="Georgia"/>
                <a:cs typeface="Georgia"/>
              </a:rPr>
              <a:t>2022</a:t>
            </a:r>
            <a:r>
              <a:rPr dirty="0" sz="1100" spc="-125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100" spc="1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1,28,975</a:t>
            </a:r>
            <a:r>
              <a:rPr dirty="0" sz="1100" spc="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1100" spc="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1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Tools:</a:t>
            </a:r>
            <a:r>
              <a:rPr dirty="0" sz="1100" spc="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PostgreSQL</a:t>
            </a:r>
            <a:r>
              <a:rPr dirty="0" sz="1100" spc="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1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Power</a:t>
            </a:r>
            <a:r>
              <a:rPr dirty="0" sz="11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BI</a:t>
            </a:r>
            <a:r>
              <a:rPr dirty="0" sz="11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1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Excel</a:t>
            </a:r>
            <a:endParaRPr sz="1100">
              <a:latin typeface="Georgia"/>
              <a:cs typeface="Georgia"/>
            </a:endParaRPr>
          </a:p>
          <a:p>
            <a:pPr marL="9779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DATA</a:t>
            </a:r>
            <a:r>
              <a:rPr dirty="0" sz="1000" spc="-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ANALYTICS</a:t>
            </a:r>
            <a:r>
              <a:rPr dirty="0" sz="1000" spc="-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PORTFOLIO</a:t>
            </a:r>
            <a:r>
              <a:rPr dirty="0" sz="1000" spc="-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PROJECT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50" spc="60"/>
              <a:t>Key</a:t>
            </a:r>
            <a:r>
              <a:rPr dirty="0" sz="2050" spc="140"/>
              <a:t> </a:t>
            </a:r>
            <a:r>
              <a:rPr dirty="0" sz="2050" spc="90"/>
              <a:t>Performance</a:t>
            </a:r>
            <a:r>
              <a:rPr dirty="0" sz="2050" spc="195"/>
              <a:t> </a:t>
            </a:r>
            <a:r>
              <a:rPr dirty="0" sz="2050" spc="35"/>
              <a:t>Metrics</a:t>
            </a:r>
            <a:endParaRPr sz="2050"/>
          </a:p>
        </p:txBody>
      </p:sp>
      <p:sp>
        <p:nvSpPr>
          <p:cNvPr id="4" name="object 4"/>
          <p:cNvSpPr txBox="1"/>
          <p:nvPr/>
        </p:nvSpPr>
        <p:spPr>
          <a:xfrm>
            <a:off x="2167254" y="740790"/>
            <a:ext cx="1347470" cy="4061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50" spc="-10">
                <a:solidFill>
                  <a:srgbClr val="4A4A4A"/>
                </a:solidFill>
                <a:latin typeface="Georgia"/>
                <a:cs typeface="Georgia"/>
              </a:rPr>
              <a:t>1,28,975</a:t>
            </a:r>
            <a:endParaRPr sz="2750">
              <a:latin typeface="Georgia"/>
              <a:cs typeface="Georgia"/>
            </a:endParaRPr>
          </a:p>
          <a:p>
            <a:pPr algn="ctr" marL="36195">
              <a:lnSpc>
                <a:spcPct val="100000"/>
              </a:lnSpc>
              <a:spcBef>
                <a:spcPts val="104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Total</a:t>
            </a:r>
            <a:r>
              <a:rPr dirty="0" sz="1000" spc="15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endParaRPr sz="1000">
              <a:latin typeface="Georgia"/>
              <a:cs typeface="Georgia"/>
            </a:endParaRPr>
          </a:p>
          <a:p>
            <a:pPr algn="ctr" marL="38100">
              <a:lnSpc>
                <a:spcPct val="100000"/>
              </a:lnSpc>
              <a:spcBef>
                <a:spcPts val="610"/>
              </a:spcBef>
            </a:pPr>
            <a:r>
              <a:rPr dirty="0" sz="800" spc="-25">
                <a:solidFill>
                  <a:srgbClr val="4A4A4A"/>
                </a:solidFill>
                <a:latin typeface="Georgia"/>
                <a:cs typeface="Georgia"/>
              </a:rPr>
              <a:t>Apr–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Jun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4A4A4A"/>
                </a:solidFill>
                <a:latin typeface="Georgia"/>
                <a:cs typeface="Georgia"/>
              </a:rPr>
              <a:t>2022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800">
              <a:latin typeface="Georgia"/>
              <a:cs typeface="Georgia"/>
            </a:endParaRPr>
          </a:p>
          <a:p>
            <a:pPr marL="59690">
              <a:lnSpc>
                <a:spcPct val="100000"/>
              </a:lnSpc>
              <a:spcBef>
                <a:spcPts val="5"/>
              </a:spcBef>
            </a:pPr>
            <a:r>
              <a:rPr dirty="0" sz="2750" spc="-10">
                <a:solidFill>
                  <a:srgbClr val="4A4A4A"/>
                </a:solidFill>
                <a:latin typeface="Georgia"/>
                <a:cs typeface="Georgia"/>
              </a:rPr>
              <a:t>₹7.34Cr</a:t>
            </a:r>
            <a:endParaRPr sz="2750">
              <a:latin typeface="Georgia"/>
              <a:cs typeface="Georgia"/>
            </a:endParaRPr>
          </a:p>
          <a:p>
            <a:pPr algn="ctr" marL="29209">
              <a:lnSpc>
                <a:spcPct val="100000"/>
              </a:lnSpc>
              <a:spcBef>
                <a:spcPts val="1050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Total</a:t>
            </a:r>
            <a:r>
              <a:rPr dirty="0" sz="10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endParaRPr sz="1000">
              <a:latin typeface="Georgia"/>
              <a:cs typeface="Georgia"/>
            </a:endParaRPr>
          </a:p>
          <a:p>
            <a:pPr algn="ctr" marL="34925">
              <a:lnSpc>
                <a:spcPct val="100000"/>
              </a:lnSpc>
              <a:spcBef>
                <a:spcPts val="615"/>
              </a:spcBef>
            </a:pP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Gross</a:t>
            </a:r>
            <a:r>
              <a:rPr dirty="0" sz="800" spc="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sales</a:t>
            </a:r>
            <a:r>
              <a:rPr dirty="0" sz="800" spc="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value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800">
              <a:latin typeface="Georgia"/>
              <a:cs typeface="Georgia"/>
            </a:endParaRPr>
          </a:p>
          <a:p>
            <a:pPr marL="57785">
              <a:lnSpc>
                <a:spcPct val="100000"/>
              </a:lnSpc>
            </a:pPr>
            <a:r>
              <a:rPr dirty="0" sz="2750" spc="-50">
                <a:solidFill>
                  <a:srgbClr val="4A4A4A"/>
                </a:solidFill>
                <a:latin typeface="Georgia"/>
                <a:cs typeface="Georgia"/>
              </a:rPr>
              <a:t>₹609.83</a:t>
            </a:r>
            <a:endParaRPr sz="2750">
              <a:latin typeface="Georgia"/>
              <a:cs typeface="Georgia"/>
            </a:endParaRPr>
          </a:p>
          <a:p>
            <a:pPr algn="ctr" marL="34925">
              <a:lnSpc>
                <a:spcPct val="100000"/>
              </a:lnSpc>
              <a:spcBef>
                <a:spcPts val="105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Avg</a:t>
            </a:r>
            <a:r>
              <a:rPr dirty="0" sz="1000" spc="1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Order</a:t>
            </a:r>
            <a:r>
              <a:rPr dirty="0" sz="1000" spc="21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4A4A4A"/>
                </a:solidFill>
                <a:latin typeface="Georgia"/>
                <a:cs typeface="Georgia"/>
              </a:rPr>
              <a:t>Value</a:t>
            </a:r>
            <a:endParaRPr sz="1000">
              <a:latin typeface="Georgia"/>
              <a:cs typeface="Georgia"/>
            </a:endParaRPr>
          </a:p>
          <a:p>
            <a:pPr algn="ctr" marL="35560">
              <a:lnSpc>
                <a:spcPct val="100000"/>
              </a:lnSpc>
              <a:spcBef>
                <a:spcPts val="610"/>
              </a:spcBef>
            </a:pP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Per</a:t>
            </a:r>
            <a:r>
              <a:rPr dirty="0" sz="800" spc="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transaction</a:t>
            </a:r>
            <a:endParaRPr sz="8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90"/>
              </a:spcBef>
            </a:pPr>
            <a:endParaRPr sz="800">
              <a:latin typeface="Georgia"/>
              <a:cs typeface="Georgia"/>
            </a:endParaRPr>
          </a:p>
          <a:p>
            <a:pPr marL="95885">
              <a:lnSpc>
                <a:spcPct val="100000"/>
              </a:lnSpc>
            </a:pPr>
            <a:r>
              <a:rPr dirty="0" sz="2750" spc="45">
                <a:solidFill>
                  <a:srgbClr val="4A4A4A"/>
                </a:solidFill>
                <a:latin typeface="Georgia"/>
                <a:cs typeface="Georgia"/>
              </a:rPr>
              <a:t>13.32%</a:t>
            </a:r>
            <a:endParaRPr sz="2750">
              <a:latin typeface="Georgia"/>
              <a:cs typeface="Georgia"/>
            </a:endParaRPr>
          </a:p>
          <a:p>
            <a:pPr algn="ctr" marL="37465">
              <a:lnSpc>
                <a:spcPct val="100000"/>
              </a:lnSpc>
              <a:spcBef>
                <a:spcPts val="105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Cancellation</a:t>
            </a:r>
            <a:r>
              <a:rPr dirty="0" sz="1000" spc="4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20">
                <a:solidFill>
                  <a:srgbClr val="4A4A4A"/>
                </a:solidFill>
                <a:latin typeface="Georgia"/>
                <a:cs typeface="Georgia"/>
              </a:rPr>
              <a:t>Rate</a:t>
            </a:r>
            <a:endParaRPr sz="1000">
              <a:latin typeface="Georgia"/>
              <a:cs typeface="Georgia"/>
            </a:endParaRPr>
          </a:p>
          <a:p>
            <a:pPr algn="ctr" marL="36195">
              <a:lnSpc>
                <a:spcPct val="100000"/>
              </a:lnSpc>
              <a:spcBef>
                <a:spcPts val="610"/>
              </a:spcBef>
            </a:pP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17,185</a:t>
            </a:r>
            <a:r>
              <a:rPr dirty="0" sz="800" spc="1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8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20">
                <a:solidFill>
                  <a:srgbClr val="4A4A4A"/>
                </a:solidFill>
                <a:latin typeface="Georgia"/>
                <a:cs typeface="Georgia"/>
              </a:rPr>
              <a:t>lost</a:t>
            </a:r>
            <a:endParaRPr sz="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7220" y="4009548"/>
            <a:ext cx="3144520" cy="1091565"/>
            <a:chOff x="5957220" y="4009548"/>
            <a:chExt cx="3144520" cy="10915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6459" y="4017264"/>
              <a:ext cx="2592324" cy="81534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958839" y="4011168"/>
              <a:ext cx="2587625" cy="808990"/>
            </a:xfrm>
            <a:custGeom>
              <a:avLst/>
              <a:gdLst/>
              <a:ahLst/>
              <a:cxnLst/>
              <a:rect l="l" t="t" r="r" b="b"/>
              <a:pathLst>
                <a:path w="2587625" h="808989">
                  <a:moveTo>
                    <a:pt x="2539238" y="0"/>
                  </a:moveTo>
                  <a:lnTo>
                    <a:pt x="48387" y="0"/>
                  </a:lnTo>
                  <a:lnTo>
                    <a:pt x="29590" y="3797"/>
                  </a:lnTo>
                  <a:lnTo>
                    <a:pt x="14097" y="14147"/>
                  </a:lnTo>
                  <a:lnTo>
                    <a:pt x="3810" y="29502"/>
                  </a:lnTo>
                  <a:lnTo>
                    <a:pt x="0" y="48310"/>
                  </a:lnTo>
                  <a:lnTo>
                    <a:pt x="0" y="760437"/>
                  </a:lnTo>
                  <a:lnTo>
                    <a:pt x="3810" y="779246"/>
                  </a:lnTo>
                  <a:lnTo>
                    <a:pt x="14097" y="794600"/>
                  </a:lnTo>
                  <a:lnTo>
                    <a:pt x="29590" y="804964"/>
                  </a:lnTo>
                  <a:lnTo>
                    <a:pt x="48387" y="808761"/>
                  </a:lnTo>
                  <a:lnTo>
                    <a:pt x="2539238" y="808761"/>
                  </a:lnTo>
                  <a:lnTo>
                    <a:pt x="2558034" y="804964"/>
                  </a:lnTo>
                  <a:lnTo>
                    <a:pt x="2573401" y="794600"/>
                  </a:lnTo>
                  <a:lnTo>
                    <a:pt x="2583815" y="779246"/>
                  </a:lnTo>
                  <a:lnTo>
                    <a:pt x="2587625" y="760437"/>
                  </a:lnTo>
                  <a:lnTo>
                    <a:pt x="2587625" y="48310"/>
                  </a:lnTo>
                  <a:lnTo>
                    <a:pt x="2583815" y="29502"/>
                  </a:lnTo>
                  <a:lnTo>
                    <a:pt x="2573401" y="14147"/>
                  </a:lnTo>
                  <a:lnTo>
                    <a:pt x="2558034" y="3797"/>
                  </a:lnTo>
                  <a:lnTo>
                    <a:pt x="2539238" y="0"/>
                  </a:lnTo>
                  <a:close/>
                </a:path>
              </a:pathLst>
            </a:custGeom>
            <a:solidFill>
              <a:srgbClr val="E6DED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959601" y="4011930"/>
              <a:ext cx="2587625" cy="808990"/>
            </a:xfrm>
            <a:custGeom>
              <a:avLst/>
              <a:gdLst/>
              <a:ahLst/>
              <a:cxnLst/>
              <a:rect l="l" t="t" r="r" b="b"/>
              <a:pathLst>
                <a:path w="2587625" h="808989">
                  <a:moveTo>
                    <a:pt x="0" y="48310"/>
                  </a:moveTo>
                  <a:lnTo>
                    <a:pt x="3810" y="29502"/>
                  </a:lnTo>
                  <a:lnTo>
                    <a:pt x="14097" y="14147"/>
                  </a:lnTo>
                  <a:lnTo>
                    <a:pt x="29590" y="3797"/>
                  </a:lnTo>
                  <a:lnTo>
                    <a:pt x="48387" y="0"/>
                  </a:lnTo>
                  <a:lnTo>
                    <a:pt x="2539238" y="0"/>
                  </a:lnTo>
                  <a:lnTo>
                    <a:pt x="2558033" y="3797"/>
                  </a:lnTo>
                  <a:lnTo>
                    <a:pt x="2573401" y="14147"/>
                  </a:lnTo>
                  <a:lnTo>
                    <a:pt x="2583815" y="29502"/>
                  </a:lnTo>
                  <a:lnTo>
                    <a:pt x="2587625" y="48310"/>
                  </a:lnTo>
                  <a:lnTo>
                    <a:pt x="2587625" y="760437"/>
                  </a:lnTo>
                  <a:lnTo>
                    <a:pt x="2583815" y="779246"/>
                  </a:lnTo>
                  <a:lnTo>
                    <a:pt x="2573401" y="794600"/>
                  </a:lnTo>
                  <a:lnTo>
                    <a:pt x="2558033" y="804964"/>
                  </a:lnTo>
                  <a:lnTo>
                    <a:pt x="2539238" y="808761"/>
                  </a:lnTo>
                  <a:lnTo>
                    <a:pt x="48387" y="808761"/>
                  </a:lnTo>
                  <a:lnTo>
                    <a:pt x="29590" y="804964"/>
                  </a:lnTo>
                  <a:lnTo>
                    <a:pt x="14097" y="794600"/>
                  </a:lnTo>
                  <a:lnTo>
                    <a:pt x="3810" y="779246"/>
                  </a:lnTo>
                  <a:lnTo>
                    <a:pt x="0" y="760437"/>
                  </a:lnTo>
                  <a:lnTo>
                    <a:pt x="0" y="48310"/>
                  </a:lnTo>
                  <a:close/>
                </a:path>
              </a:pathLst>
            </a:custGeom>
            <a:ln w="4763">
              <a:solidFill>
                <a:srgbClr val="CCC4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105"/>
              </a:spcBef>
            </a:pPr>
            <a:r>
              <a:rPr dirty="0" sz="2250" spc="60"/>
              <a:t>Project</a:t>
            </a:r>
            <a:r>
              <a:rPr dirty="0" sz="2250" spc="114"/>
              <a:t> Overview</a:t>
            </a:r>
            <a:r>
              <a:rPr dirty="0" sz="2250" spc="204"/>
              <a:t> </a:t>
            </a:r>
            <a:r>
              <a:rPr dirty="0" sz="2250"/>
              <a:t>&amp;</a:t>
            </a:r>
            <a:r>
              <a:rPr dirty="0" sz="2250" spc="140"/>
              <a:t> </a:t>
            </a:r>
            <a:r>
              <a:rPr dirty="0" sz="2250" spc="40"/>
              <a:t>Dataset</a:t>
            </a:r>
            <a:endParaRPr sz="2250"/>
          </a:p>
        </p:txBody>
      </p:sp>
      <p:pic>
        <p:nvPicPr>
          <p:cNvPr id="7" name="object 7" descr="preencoded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7408" y="928116"/>
            <a:ext cx="5068824" cy="287273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940044" y="1381201"/>
            <a:ext cx="2498090" cy="1932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393939"/>
                </a:solidFill>
                <a:latin typeface="Georgia"/>
                <a:cs typeface="Georgia"/>
              </a:rPr>
              <a:t>Objective</a:t>
            </a:r>
            <a:endParaRPr sz="1100">
              <a:latin typeface="Georgia"/>
              <a:cs typeface="Georgia"/>
            </a:endParaRPr>
          </a:p>
          <a:p>
            <a:pPr marL="12700" marR="5080">
              <a:lnSpc>
                <a:spcPct val="121100"/>
              </a:lnSpc>
              <a:spcBef>
                <a:spcPts val="680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Extract</a:t>
            </a:r>
            <a:r>
              <a:rPr dirty="0" sz="900" spc="1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actionable</a:t>
            </a:r>
            <a:r>
              <a:rPr dirty="0" sz="900" spc="2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insights</a:t>
            </a:r>
            <a:r>
              <a:rPr dirty="0" sz="900" spc="1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from</a:t>
            </a:r>
            <a:r>
              <a:rPr dirty="0" sz="900" spc="2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Amazon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India's</a:t>
            </a:r>
            <a:r>
              <a:rPr dirty="0" sz="900" spc="21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fashion</a:t>
            </a:r>
            <a:r>
              <a:rPr dirty="0" sz="900" spc="229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30">
                <a:solidFill>
                  <a:srgbClr val="4A4A4A"/>
                </a:solidFill>
                <a:latin typeface="Georgia"/>
                <a:cs typeface="Georgia"/>
              </a:rPr>
              <a:t>e-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commerce</a:t>
            </a:r>
            <a:r>
              <a:rPr dirty="0" sz="900" spc="2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transactional</a:t>
            </a:r>
            <a:r>
              <a:rPr dirty="0" sz="900" spc="2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20">
                <a:solidFill>
                  <a:srgbClr val="4A4A4A"/>
                </a:solidFill>
                <a:latin typeface="Georgia"/>
                <a:cs typeface="Georgia"/>
              </a:rPr>
              <a:t>data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 using</a:t>
            </a:r>
            <a:r>
              <a:rPr dirty="0" sz="900" spc="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SQL,</a:t>
            </a:r>
            <a:r>
              <a:rPr dirty="0" sz="900" spc="5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Power</a:t>
            </a:r>
            <a:r>
              <a:rPr dirty="0" sz="9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BI,</a:t>
            </a:r>
            <a:r>
              <a:rPr dirty="0" sz="900" spc="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and</a:t>
            </a:r>
            <a:r>
              <a:rPr dirty="0" sz="9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Python</a:t>
            </a:r>
            <a:r>
              <a:rPr dirty="0" sz="9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(Pandas).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100" spc="-10">
                <a:solidFill>
                  <a:srgbClr val="393939"/>
                </a:solidFill>
                <a:latin typeface="Georgia"/>
                <a:cs typeface="Georgia"/>
              </a:rPr>
              <a:t>Dataset</a:t>
            </a:r>
            <a:endParaRPr sz="1100">
              <a:latin typeface="Georgia"/>
              <a:cs typeface="Georgia"/>
            </a:endParaRPr>
          </a:p>
          <a:p>
            <a:pPr marL="12700" marR="94615">
              <a:lnSpc>
                <a:spcPct val="121200"/>
              </a:lnSpc>
              <a:spcBef>
                <a:spcPts val="675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1,28,975</a:t>
            </a:r>
            <a:r>
              <a:rPr dirty="0" sz="900" spc="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rows</a:t>
            </a:r>
            <a:r>
              <a:rPr dirty="0" sz="900" spc="1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×</a:t>
            </a:r>
            <a:r>
              <a:rPr dirty="0" sz="900" spc="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21</a:t>
            </a:r>
            <a:r>
              <a:rPr dirty="0" sz="9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columns</a:t>
            </a:r>
            <a:r>
              <a:rPr dirty="0" sz="900" spc="11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—</a:t>
            </a:r>
            <a:r>
              <a:rPr dirty="0" sz="900" spc="1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order</a:t>
            </a:r>
            <a:r>
              <a:rPr dirty="0" sz="900" spc="1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identity,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product</a:t>
            </a:r>
            <a:r>
              <a:rPr dirty="0" sz="900" spc="1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details,</a:t>
            </a:r>
            <a:r>
              <a:rPr dirty="0" sz="900" spc="229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shipping,</a:t>
            </a:r>
            <a:r>
              <a:rPr dirty="0" sz="900" spc="1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financials,</a:t>
            </a:r>
            <a:r>
              <a:rPr dirty="0" sz="900" spc="21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25">
                <a:solidFill>
                  <a:srgbClr val="4A4A4A"/>
                </a:solidFill>
                <a:latin typeface="Georgia"/>
                <a:cs typeface="Georgia"/>
              </a:rPr>
              <a:t>and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 fulfilment</a:t>
            </a:r>
            <a:r>
              <a:rPr dirty="0" sz="900" spc="2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type.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20"/>
              </a:spcBef>
            </a:pPr>
            <a:r>
              <a:rPr dirty="0" sz="1100" spc="-10">
                <a:solidFill>
                  <a:srgbClr val="393939"/>
                </a:solidFill>
                <a:latin typeface="Georgia"/>
                <a:cs typeface="Georgia"/>
              </a:rPr>
              <a:t>Tools</a:t>
            </a:r>
            <a:endParaRPr sz="1100">
              <a:latin typeface="Georgia"/>
              <a:cs typeface="Georg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5788" y="4009548"/>
            <a:ext cx="2600325" cy="823594"/>
            <a:chOff x="595788" y="4009548"/>
            <a:chExt cx="2600325" cy="823594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5027" y="4017264"/>
              <a:ext cx="2590800" cy="81534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7407" y="4011168"/>
              <a:ext cx="2587625" cy="808990"/>
            </a:xfrm>
            <a:custGeom>
              <a:avLst/>
              <a:gdLst/>
              <a:ahLst/>
              <a:cxnLst/>
              <a:rect l="l" t="t" r="r" b="b"/>
              <a:pathLst>
                <a:path w="2587625" h="808989">
                  <a:moveTo>
                    <a:pt x="2539238" y="0"/>
                  </a:moveTo>
                  <a:lnTo>
                    <a:pt x="48387" y="0"/>
                  </a:lnTo>
                  <a:lnTo>
                    <a:pt x="29552" y="3797"/>
                  </a:lnTo>
                  <a:lnTo>
                    <a:pt x="14173" y="14147"/>
                  </a:lnTo>
                  <a:lnTo>
                    <a:pt x="3797" y="29502"/>
                  </a:lnTo>
                  <a:lnTo>
                    <a:pt x="0" y="48310"/>
                  </a:lnTo>
                  <a:lnTo>
                    <a:pt x="0" y="760437"/>
                  </a:lnTo>
                  <a:lnTo>
                    <a:pt x="3797" y="779246"/>
                  </a:lnTo>
                  <a:lnTo>
                    <a:pt x="14173" y="794600"/>
                  </a:lnTo>
                  <a:lnTo>
                    <a:pt x="29552" y="804964"/>
                  </a:lnTo>
                  <a:lnTo>
                    <a:pt x="48387" y="808761"/>
                  </a:lnTo>
                  <a:lnTo>
                    <a:pt x="2539238" y="808761"/>
                  </a:lnTo>
                  <a:lnTo>
                    <a:pt x="2558034" y="804964"/>
                  </a:lnTo>
                  <a:lnTo>
                    <a:pt x="2573401" y="794600"/>
                  </a:lnTo>
                  <a:lnTo>
                    <a:pt x="2583815" y="779246"/>
                  </a:lnTo>
                  <a:lnTo>
                    <a:pt x="2587625" y="760437"/>
                  </a:lnTo>
                  <a:lnTo>
                    <a:pt x="2587625" y="48310"/>
                  </a:lnTo>
                  <a:lnTo>
                    <a:pt x="2583815" y="29502"/>
                  </a:lnTo>
                  <a:lnTo>
                    <a:pt x="2573401" y="14147"/>
                  </a:lnTo>
                  <a:lnTo>
                    <a:pt x="2558034" y="3797"/>
                  </a:lnTo>
                  <a:lnTo>
                    <a:pt x="2539238" y="0"/>
                  </a:lnTo>
                  <a:close/>
                </a:path>
              </a:pathLst>
            </a:custGeom>
            <a:solidFill>
              <a:srgbClr val="E6DED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98169" y="4011930"/>
              <a:ext cx="2587625" cy="808990"/>
            </a:xfrm>
            <a:custGeom>
              <a:avLst/>
              <a:gdLst/>
              <a:ahLst/>
              <a:cxnLst/>
              <a:rect l="l" t="t" r="r" b="b"/>
              <a:pathLst>
                <a:path w="2587625" h="808989">
                  <a:moveTo>
                    <a:pt x="0" y="48310"/>
                  </a:moveTo>
                  <a:lnTo>
                    <a:pt x="3797" y="29502"/>
                  </a:lnTo>
                  <a:lnTo>
                    <a:pt x="14173" y="14147"/>
                  </a:lnTo>
                  <a:lnTo>
                    <a:pt x="29552" y="3797"/>
                  </a:lnTo>
                  <a:lnTo>
                    <a:pt x="48386" y="0"/>
                  </a:lnTo>
                  <a:lnTo>
                    <a:pt x="2539238" y="0"/>
                  </a:lnTo>
                  <a:lnTo>
                    <a:pt x="2558034" y="3797"/>
                  </a:lnTo>
                  <a:lnTo>
                    <a:pt x="2573401" y="14147"/>
                  </a:lnTo>
                  <a:lnTo>
                    <a:pt x="2583815" y="29502"/>
                  </a:lnTo>
                  <a:lnTo>
                    <a:pt x="2587625" y="48310"/>
                  </a:lnTo>
                  <a:lnTo>
                    <a:pt x="2587625" y="760437"/>
                  </a:lnTo>
                  <a:lnTo>
                    <a:pt x="2583815" y="779246"/>
                  </a:lnTo>
                  <a:lnTo>
                    <a:pt x="2573401" y="794600"/>
                  </a:lnTo>
                  <a:lnTo>
                    <a:pt x="2558034" y="804964"/>
                  </a:lnTo>
                  <a:lnTo>
                    <a:pt x="2539238" y="808761"/>
                  </a:lnTo>
                  <a:lnTo>
                    <a:pt x="48386" y="808761"/>
                  </a:lnTo>
                  <a:lnTo>
                    <a:pt x="29552" y="804964"/>
                  </a:lnTo>
                  <a:lnTo>
                    <a:pt x="14173" y="794600"/>
                  </a:lnTo>
                  <a:lnTo>
                    <a:pt x="3797" y="779246"/>
                  </a:lnTo>
                  <a:lnTo>
                    <a:pt x="0" y="760437"/>
                  </a:lnTo>
                  <a:lnTo>
                    <a:pt x="0" y="48310"/>
                  </a:lnTo>
                  <a:close/>
                </a:path>
              </a:pathLst>
            </a:custGeom>
            <a:ln w="4763">
              <a:solidFill>
                <a:srgbClr val="CCC4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05104" y="4012078"/>
            <a:ext cx="1951355" cy="669290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100" spc="-10">
                <a:latin typeface="Georgia"/>
                <a:cs typeface="Georgia"/>
              </a:rPr>
              <a:t>MySQL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 sz="900">
                <a:latin typeface="Georgia"/>
                <a:cs typeface="Georgia"/>
              </a:rPr>
              <a:t>17</a:t>
            </a:r>
            <a:r>
              <a:rPr dirty="0" sz="900" spc="185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analytical</a:t>
            </a:r>
            <a:r>
              <a:rPr dirty="0" sz="900" spc="165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queries,</a:t>
            </a:r>
            <a:r>
              <a:rPr dirty="0" sz="900" spc="135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CTEs,</a:t>
            </a:r>
            <a:r>
              <a:rPr dirty="0" sz="900" spc="130">
                <a:latin typeface="Georgia"/>
                <a:cs typeface="Georgia"/>
              </a:rPr>
              <a:t> </a:t>
            </a:r>
            <a:r>
              <a:rPr dirty="0" sz="900" spc="-10">
                <a:latin typeface="Georgia"/>
                <a:cs typeface="Georgia"/>
              </a:rPr>
              <a:t>window</a:t>
            </a:r>
            <a:endParaRPr sz="9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dirty="0" sz="900" spc="-10">
                <a:latin typeface="Georgia"/>
                <a:cs typeface="Georgia"/>
              </a:rPr>
              <a:t>functions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276504" y="4009548"/>
            <a:ext cx="2601595" cy="823594"/>
            <a:chOff x="3276504" y="4009548"/>
            <a:chExt cx="2601595" cy="823594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5744" y="4017264"/>
              <a:ext cx="2592324" cy="81534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78124" y="4011168"/>
              <a:ext cx="2587625" cy="808990"/>
            </a:xfrm>
            <a:custGeom>
              <a:avLst/>
              <a:gdLst/>
              <a:ahLst/>
              <a:cxnLst/>
              <a:rect l="l" t="t" r="r" b="b"/>
              <a:pathLst>
                <a:path w="2587625" h="808989">
                  <a:moveTo>
                    <a:pt x="2539238" y="0"/>
                  </a:moveTo>
                  <a:lnTo>
                    <a:pt x="48387" y="0"/>
                  </a:lnTo>
                  <a:lnTo>
                    <a:pt x="29590" y="3797"/>
                  </a:lnTo>
                  <a:lnTo>
                    <a:pt x="14097" y="14147"/>
                  </a:lnTo>
                  <a:lnTo>
                    <a:pt x="3810" y="29502"/>
                  </a:lnTo>
                  <a:lnTo>
                    <a:pt x="0" y="48310"/>
                  </a:lnTo>
                  <a:lnTo>
                    <a:pt x="0" y="760450"/>
                  </a:lnTo>
                  <a:lnTo>
                    <a:pt x="3810" y="779246"/>
                  </a:lnTo>
                  <a:lnTo>
                    <a:pt x="14097" y="794600"/>
                  </a:lnTo>
                  <a:lnTo>
                    <a:pt x="29590" y="804964"/>
                  </a:lnTo>
                  <a:lnTo>
                    <a:pt x="48387" y="808761"/>
                  </a:lnTo>
                  <a:lnTo>
                    <a:pt x="2539238" y="808761"/>
                  </a:lnTo>
                  <a:lnTo>
                    <a:pt x="2558034" y="804964"/>
                  </a:lnTo>
                  <a:lnTo>
                    <a:pt x="2573528" y="794600"/>
                  </a:lnTo>
                  <a:lnTo>
                    <a:pt x="2583815" y="779246"/>
                  </a:lnTo>
                  <a:lnTo>
                    <a:pt x="2587625" y="760450"/>
                  </a:lnTo>
                  <a:lnTo>
                    <a:pt x="2587625" y="48310"/>
                  </a:lnTo>
                  <a:lnTo>
                    <a:pt x="2583815" y="29502"/>
                  </a:lnTo>
                  <a:lnTo>
                    <a:pt x="2573528" y="14147"/>
                  </a:lnTo>
                  <a:lnTo>
                    <a:pt x="2558034" y="3797"/>
                  </a:lnTo>
                  <a:lnTo>
                    <a:pt x="2539238" y="0"/>
                  </a:lnTo>
                  <a:close/>
                </a:path>
              </a:pathLst>
            </a:custGeom>
            <a:solidFill>
              <a:srgbClr val="E6DED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278886" y="4011930"/>
              <a:ext cx="2587625" cy="808990"/>
            </a:xfrm>
            <a:custGeom>
              <a:avLst/>
              <a:gdLst/>
              <a:ahLst/>
              <a:cxnLst/>
              <a:rect l="l" t="t" r="r" b="b"/>
              <a:pathLst>
                <a:path w="2587625" h="808989">
                  <a:moveTo>
                    <a:pt x="0" y="48310"/>
                  </a:moveTo>
                  <a:lnTo>
                    <a:pt x="3810" y="29502"/>
                  </a:lnTo>
                  <a:lnTo>
                    <a:pt x="14097" y="14147"/>
                  </a:lnTo>
                  <a:lnTo>
                    <a:pt x="29590" y="3797"/>
                  </a:lnTo>
                  <a:lnTo>
                    <a:pt x="48387" y="0"/>
                  </a:lnTo>
                  <a:lnTo>
                    <a:pt x="2539238" y="0"/>
                  </a:lnTo>
                  <a:lnTo>
                    <a:pt x="2558034" y="3797"/>
                  </a:lnTo>
                  <a:lnTo>
                    <a:pt x="2573528" y="14147"/>
                  </a:lnTo>
                  <a:lnTo>
                    <a:pt x="2583815" y="29502"/>
                  </a:lnTo>
                  <a:lnTo>
                    <a:pt x="2587625" y="48310"/>
                  </a:lnTo>
                  <a:lnTo>
                    <a:pt x="2587625" y="760450"/>
                  </a:lnTo>
                  <a:lnTo>
                    <a:pt x="2583815" y="779246"/>
                  </a:lnTo>
                  <a:lnTo>
                    <a:pt x="2573528" y="794600"/>
                  </a:lnTo>
                  <a:lnTo>
                    <a:pt x="2558034" y="804964"/>
                  </a:lnTo>
                  <a:lnTo>
                    <a:pt x="2539238" y="808761"/>
                  </a:lnTo>
                  <a:lnTo>
                    <a:pt x="48387" y="808761"/>
                  </a:lnTo>
                  <a:lnTo>
                    <a:pt x="29590" y="804964"/>
                  </a:lnTo>
                  <a:lnTo>
                    <a:pt x="14097" y="794600"/>
                  </a:lnTo>
                  <a:lnTo>
                    <a:pt x="3810" y="779246"/>
                  </a:lnTo>
                  <a:lnTo>
                    <a:pt x="0" y="760450"/>
                  </a:lnTo>
                  <a:lnTo>
                    <a:pt x="0" y="48310"/>
                  </a:lnTo>
                  <a:close/>
                </a:path>
              </a:pathLst>
            </a:custGeom>
            <a:ln w="4763">
              <a:solidFill>
                <a:srgbClr val="CCC4B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3386073" y="4106672"/>
            <a:ext cx="2250440" cy="42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Georgia"/>
                <a:cs typeface="Georgia"/>
              </a:rPr>
              <a:t>Power</a:t>
            </a:r>
            <a:r>
              <a:rPr dirty="0" sz="1100" spc="315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BI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latin typeface="Georgia"/>
                <a:cs typeface="Georgia"/>
              </a:rPr>
              <a:t>Interactive</a:t>
            </a:r>
            <a:r>
              <a:rPr dirty="0" sz="900" spc="200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dashboard</a:t>
            </a:r>
            <a:r>
              <a:rPr dirty="0" sz="900" spc="210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with</a:t>
            </a:r>
            <a:r>
              <a:rPr dirty="0" sz="900" spc="195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slicers</a:t>
            </a:r>
            <a:r>
              <a:rPr dirty="0" sz="900" spc="200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&amp;</a:t>
            </a:r>
            <a:r>
              <a:rPr dirty="0" sz="900" spc="195">
                <a:latin typeface="Georgia"/>
                <a:cs typeface="Georgia"/>
              </a:rPr>
              <a:t> </a:t>
            </a:r>
            <a:r>
              <a:rPr dirty="0" sz="900" spc="-20">
                <a:latin typeface="Georgia"/>
                <a:cs typeface="Georgia"/>
              </a:rPr>
              <a:t>KPIs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67425" y="4106672"/>
            <a:ext cx="1410335" cy="42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Georgia"/>
                <a:cs typeface="Georgia"/>
              </a:rPr>
              <a:t>Python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latin typeface="Georgia"/>
                <a:cs typeface="Georgia"/>
              </a:rPr>
              <a:t>Data</a:t>
            </a:r>
            <a:r>
              <a:rPr dirty="0" sz="900" spc="105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profiling</a:t>
            </a:r>
            <a:r>
              <a:rPr dirty="0" sz="900" spc="135">
                <a:latin typeface="Georgia"/>
                <a:cs typeface="Georgia"/>
              </a:rPr>
              <a:t> </a:t>
            </a:r>
            <a:r>
              <a:rPr dirty="0" sz="900">
                <a:latin typeface="Georgia"/>
                <a:cs typeface="Georgia"/>
              </a:rPr>
              <a:t>&amp;</a:t>
            </a:r>
            <a:r>
              <a:rPr dirty="0" sz="900" spc="110">
                <a:latin typeface="Georgia"/>
                <a:cs typeface="Georgia"/>
              </a:rPr>
              <a:t> </a:t>
            </a:r>
            <a:r>
              <a:rPr dirty="0" sz="900" spc="-10">
                <a:latin typeface="Georgia"/>
                <a:cs typeface="Georgia"/>
              </a:rPr>
              <a:t>validation</a:t>
            </a:r>
            <a:endParaRPr sz="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209" y="635000"/>
            <a:ext cx="5558155" cy="444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50" spc="105"/>
              <a:t>Revenue</a:t>
            </a:r>
            <a:r>
              <a:rPr dirty="0" sz="2750" spc="195"/>
              <a:t> </a:t>
            </a:r>
            <a:r>
              <a:rPr dirty="0" sz="2750"/>
              <a:t>&amp;</a:t>
            </a:r>
            <a:r>
              <a:rPr dirty="0" sz="2750" spc="195"/>
              <a:t> </a:t>
            </a:r>
            <a:r>
              <a:rPr dirty="0" sz="2750" spc="100"/>
              <a:t>Order</a:t>
            </a:r>
            <a:r>
              <a:rPr dirty="0" sz="2750" spc="215"/>
              <a:t> </a:t>
            </a:r>
            <a:r>
              <a:rPr dirty="0" sz="2750" spc="80"/>
              <a:t>Volume</a:t>
            </a:r>
            <a:r>
              <a:rPr dirty="0" sz="2750" spc="270"/>
              <a:t> </a:t>
            </a:r>
            <a:r>
              <a:rPr dirty="0" sz="2750" spc="70"/>
              <a:t>Trends</a:t>
            </a:r>
            <a:endParaRPr sz="2750"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823" y="1495044"/>
            <a:ext cx="3902964" cy="280873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750308" y="2906267"/>
            <a:ext cx="3902710" cy="1057275"/>
            <a:chOff x="4750308" y="2906267"/>
            <a:chExt cx="3902710" cy="1057275"/>
          </a:xfrm>
        </p:grpSpPr>
        <p:sp>
          <p:nvSpPr>
            <p:cNvPr id="5" name="object 5"/>
            <p:cNvSpPr/>
            <p:nvPr/>
          </p:nvSpPr>
          <p:spPr>
            <a:xfrm>
              <a:off x="4750308" y="2906267"/>
              <a:ext cx="3902710" cy="1057275"/>
            </a:xfrm>
            <a:custGeom>
              <a:avLst/>
              <a:gdLst/>
              <a:ahLst/>
              <a:cxnLst/>
              <a:rect l="l" t="t" r="r" b="b"/>
              <a:pathLst>
                <a:path w="3902709" h="1057275">
                  <a:moveTo>
                    <a:pt x="3843019" y="0"/>
                  </a:moveTo>
                  <a:lnTo>
                    <a:pt x="59562" y="0"/>
                  </a:lnTo>
                  <a:lnTo>
                    <a:pt x="36321" y="4699"/>
                  </a:lnTo>
                  <a:lnTo>
                    <a:pt x="17399" y="17399"/>
                  </a:lnTo>
                  <a:lnTo>
                    <a:pt x="4699" y="36449"/>
                  </a:lnTo>
                  <a:lnTo>
                    <a:pt x="0" y="59562"/>
                  </a:lnTo>
                  <a:lnTo>
                    <a:pt x="0" y="997457"/>
                  </a:lnTo>
                  <a:lnTo>
                    <a:pt x="4699" y="1020660"/>
                  </a:lnTo>
                  <a:lnTo>
                    <a:pt x="17399" y="1039609"/>
                  </a:lnTo>
                  <a:lnTo>
                    <a:pt x="36321" y="1052372"/>
                  </a:lnTo>
                  <a:lnTo>
                    <a:pt x="59562" y="1057059"/>
                  </a:lnTo>
                  <a:lnTo>
                    <a:pt x="3843019" y="1057059"/>
                  </a:lnTo>
                  <a:lnTo>
                    <a:pt x="3866261" y="1052372"/>
                  </a:lnTo>
                  <a:lnTo>
                    <a:pt x="3885184" y="1039609"/>
                  </a:lnTo>
                  <a:lnTo>
                    <a:pt x="3897884" y="1020660"/>
                  </a:lnTo>
                  <a:lnTo>
                    <a:pt x="3902583" y="997457"/>
                  </a:lnTo>
                  <a:lnTo>
                    <a:pt x="3902583" y="59562"/>
                  </a:lnTo>
                  <a:lnTo>
                    <a:pt x="3897884" y="36449"/>
                  </a:lnTo>
                  <a:lnTo>
                    <a:pt x="3885184" y="17399"/>
                  </a:lnTo>
                  <a:lnTo>
                    <a:pt x="3866261" y="4699"/>
                  </a:lnTo>
                  <a:lnTo>
                    <a:pt x="3843019" y="0"/>
                  </a:lnTo>
                  <a:close/>
                </a:path>
              </a:pathLst>
            </a:custGeom>
            <a:solidFill>
              <a:srgbClr val="FAF0B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preencoded.png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92040" y="3127247"/>
              <a:ext cx="176784" cy="1417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738242" y="1447927"/>
            <a:ext cx="3881120" cy="22834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 spc="65">
                <a:solidFill>
                  <a:srgbClr val="393939"/>
                </a:solidFill>
                <a:latin typeface="Georgia"/>
                <a:cs typeface="Georgia"/>
              </a:rPr>
              <a:t>Downward</a:t>
            </a:r>
            <a:r>
              <a:rPr dirty="0" sz="1350" spc="80">
                <a:solidFill>
                  <a:srgbClr val="393939"/>
                </a:solidFill>
                <a:latin typeface="Georgia"/>
                <a:cs typeface="Georgia"/>
              </a:rPr>
              <a:t> </a:t>
            </a:r>
            <a:r>
              <a:rPr dirty="0" sz="1350" spc="-20">
                <a:solidFill>
                  <a:srgbClr val="393939"/>
                </a:solidFill>
                <a:latin typeface="Georgia"/>
                <a:cs typeface="Georgia"/>
              </a:rPr>
              <a:t>Trend</a:t>
            </a:r>
            <a:endParaRPr sz="1350">
              <a:latin typeface="Georgia"/>
              <a:cs typeface="Georgia"/>
            </a:endParaRPr>
          </a:p>
          <a:p>
            <a:pPr marL="12700" marR="5080">
              <a:lnSpc>
                <a:spcPct val="133000"/>
              </a:lnSpc>
              <a:spcBef>
                <a:spcPts val="920"/>
              </a:spcBef>
            </a:pP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r>
              <a:rPr dirty="0" sz="1100" spc="2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declined</a:t>
            </a:r>
            <a:r>
              <a:rPr dirty="0" sz="1100" spc="1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80" b="1">
                <a:solidFill>
                  <a:srgbClr val="4A4A4A"/>
                </a:solidFill>
                <a:latin typeface="Georgia"/>
                <a:cs typeface="Georgia"/>
              </a:rPr>
              <a:t>~18.8%</a:t>
            </a:r>
            <a:r>
              <a:rPr dirty="0" sz="1100" spc="25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over</a:t>
            </a:r>
            <a:r>
              <a:rPr dirty="0" sz="1100" spc="2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the</a:t>
            </a:r>
            <a:r>
              <a:rPr dirty="0" sz="1100" spc="1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quarter:</a:t>
            </a:r>
            <a:r>
              <a:rPr dirty="0" sz="110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April</a:t>
            </a:r>
            <a:r>
              <a:rPr dirty="0" sz="1100" spc="1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(₹2.70</a:t>
            </a:r>
            <a:r>
              <a:rPr dirty="0" sz="11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25">
                <a:solidFill>
                  <a:srgbClr val="4A4A4A"/>
                </a:solidFill>
                <a:latin typeface="Georgia"/>
                <a:cs typeface="Georgia"/>
              </a:rPr>
              <a:t>Cr,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36.7%</a:t>
            </a:r>
            <a:r>
              <a:rPr dirty="0" sz="1100" spc="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share)</a:t>
            </a:r>
            <a:r>
              <a:rPr dirty="0" sz="1100" spc="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Times New Roman"/>
                <a:cs typeface="Times New Roman"/>
              </a:rPr>
              <a:t>→</a:t>
            </a:r>
            <a:r>
              <a:rPr dirty="0" sz="1100" spc="15">
                <a:solidFill>
                  <a:srgbClr val="4A4A4A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May</a:t>
            </a:r>
            <a:r>
              <a:rPr dirty="0" sz="1100" spc="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(₹2.45</a:t>
            </a:r>
            <a:r>
              <a:rPr dirty="0" sz="1100" spc="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Cr)</a:t>
            </a:r>
            <a:r>
              <a:rPr dirty="0" sz="1100" spc="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Times New Roman"/>
                <a:cs typeface="Times New Roman"/>
              </a:rPr>
              <a:t>→</a:t>
            </a:r>
            <a:r>
              <a:rPr dirty="0" sz="1100" spc="15">
                <a:solidFill>
                  <a:srgbClr val="4A4A4A"/>
                </a:solidFill>
                <a:latin typeface="Times New Roman"/>
                <a:cs typeface="Times New Roman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June</a:t>
            </a:r>
            <a:r>
              <a:rPr dirty="0" sz="1100" spc="1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(₹2.19</a:t>
            </a:r>
            <a:r>
              <a:rPr dirty="0" sz="1100" spc="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Cr).</a:t>
            </a:r>
            <a:r>
              <a:rPr dirty="0" sz="1100" spc="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20">
                <a:solidFill>
                  <a:srgbClr val="4A4A4A"/>
                </a:solidFill>
                <a:latin typeface="Georgia"/>
                <a:cs typeface="Georgia"/>
              </a:rPr>
              <a:t>This </a:t>
            </a:r>
            <a:r>
              <a:rPr dirty="0" sz="1100" spc="45">
                <a:solidFill>
                  <a:srgbClr val="4A4A4A"/>
                </a:solidFill>
                <a:latin typeface="Georgia"/>
                <a:cs typeface="Georgia"/>
              </a:rPr>
              <a:t>warrants</a:t>
            </a:r>
            <a:r>
              <a:rPr dirty="0" sz="1100" spc="2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investigation</a:t>
            </a:r>
            <a:r>
              <a:rPr dirty="0" sz="1100" spc="2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into</a:t>
            </a:r>
            <a:r>
              <a:rPr dirty="0" sz="1100" spc="229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seasonal</a:t>
            </a:r>
            <a:r>
              <a:rPr dirty="0" sz="1100" spc="2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demand,</a:t>
            </a:r>
            <a:r>
              <a:rPr dirty="0" sz="1100" spc="2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marketing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spend,</a:t>
            </a:r>
            <a:r>
              <a:rPr dirty="0" sz="1100" spc="1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or</a:t>
            </a:r>
            <a:r>
              <a:rPr dirty="0" sz="1100" spc="2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inventory</a:t>
            </a:r>
            <a:r>
              <a:rPr dirty="0" sz="1100" spc="2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constraints.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1100">
              <a:latin typeface="Georgia"/>
              <a:cs typeface="Georgia"/>
            </a:endParaRPr>
          </a:p>
          <a:p>
            <a:pPr marL="472440" marR="573405">
              <a:lnSpc>
                <a:spcPct val="132700"/>
              </a:lnSpc>
              <a:spcBef>
                <a:spcPts val="5"/>
              </a:spcBef>
            </a:pPr>
            <a:r>
              <a:rPr dirty="0" sz="1100">
                <a:latin typeface="Georgia"/>
                <a:cs typeface="Georgia"/>
              </a:rPr>
              <a:t>April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was</a:t>
            </a:r>
            <a:r>
              <a:rPr dirty="0" sz="1100" spc="2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strongest</a:t>
            </a:r>
            <a:r>
              <a:rPr dirty="0" sz="1100" spc="1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month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—</a:t>
            </a:r>
            <a:r>
              <a:rPr dirty="0" sz="1100" spc="2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</a:t>
            </a:r>
            <a:r>
              <a:rPr dirty="0" sz="1100" spc="22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cohort </a:t>
            </a:r>
            <a:r>
              <a:rPr dirty="0" sz="1100">
                <a:latin typeface="Georgia"/>
                <a:cs typeface="Georgia"/>
              </a:rPr>
              <a:t>analysis</a:t>
            </a:r>
            <a:r>
              <a:rPr dirty="0" sz="1100" spc="19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of</a:t>
            </a:r>
            <a:r>
              <a:rPr dirty="0" sz="1100" spc="190">
                <a:latin typeface="Georgia"/>
                <a:cs typeface="Georgia"/>
              </a:rPr>
              <a:t> </a:t>
            </a:r>
            <a:r>
              <a:rPr dirty="0" sz="1100" spc="50">
                <a:latin typeface="Georgia"/>
                <a:cs typeface="Georgia"/>
              </a:rPr>
              <a:t>new</a:t>
            </a:r>
            <a:r>
              <a:rPr dirty="0" sz="1100" spc="28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vs</a:t>
            </a:r>
            <a:r>
              <a:rPr dirty="0" sz="1100" spc="26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returning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customers</a:t>
            </a:r>
            <a:r>
              <a:rPr dirty="0" sz="1100" spc="18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is </a:t>
            </a:r>
            <a:r>
              <a:rPr dirty="0" sz="1100">
                <a:latin typeface="Georgia"/>
                <a:cs typeface="Georgia"/>
              </a:rPr>
              <a:t>recommended</a:t>
            </a:r>
            <a:r>
              <a:rPr dirty="0" sz="1100" spc="23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to</a:t>
            </a:r>
            <a:r>
              <a:rPr dirty="0" sz="1100" spc="22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pinpoint</a:t>
            </a:r>
            <a:r>
              <a:rPr dirty="0" sz="1100" spc="2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the</a:t>
            </a:r>
            <a:r>
              <a:rPr dirty="0" sz="1100" spc="21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drop's</a:t>
            </a:r>
            <a:r>
              <a:rPr dirty="0" sz="1100" spc="21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cause.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6575" y="367665"/>
            <a:ext cx="4701540" cy="406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500" spc="60"/>
              <a:t>Product</a:t>
            </a:r>
            <a:r>
              <a:rPr dirty="0" sz="2500" spc="229"/>
              <a:t> </a:t>
            </a:r>
            <a:r>
              <a:rPr dirty="0" sz="2500" spc="70"/>
              <a:t>Category</a:t>
            </a:r>
            <a:r>
              <a:rPr dirty="0" sz="2500" spc="250"/>
              <a:t> </a:t>
            </a:r>
            <a:r>
              <a:rPr dirty="0" sz="2500" spc="85"/>
              <a:t>Performance</a:t>
            </a:r>
            <a:endParaRPr sz="2500"/>
          </a:p>
        </p:txBody>
      </p:sp>
      <p:grpSp>
        <p:nvGrpSpPr>
          <p:cNvPr id="4" name="object 4"/>
          <p:cNvGrpSpPr/>
          <p:nvPr/>
        </p:nvGrpSpPr>
        <p:grpSpPr>
          <a:xfrm>
            <a:off x="435863" y="979646"/>
            <a:ext cx="4849495" cy="777875"/>
            <a:chOff x="435863" y="979646"/>
            <a:chExt cx="4849495" cy="777875"/>
          </a:xfrm>
        </p:grpSpPr>
        <p:sp>
          <p:nvSpPr>
            <p:cNvPr id="5" name="object 5"/>
            <p:cNvSpPr/>
            <p:nvPr/>
          </p:nvSpPr>
          <p:spPr>
            <a:xfrm>
              <a:off x="455675" y="992123"/>
              <a:ext cx="4829810" cy="765175"/>
            </a:xfrm>
            <a:custGeom>
              <a:avLst/>
              <a:gdLst/>
              <a:ahLst/>
              <a:cxnLst/>
              <a:rect l="l" t="t" r="r" b="b"/>
              <a:pathLst>
                <a:path w="4829810" h="765175">
                  <a:moveTo>
                    <a:pt x="4769993" y="0"/>
                  </a:moveTo>
                  <a:lnTo>
                    <a:pt x="4790313" y="13715"/>
                  </a:lnTo>
                  <a:lnTo>
                    <a:pt x="4805045" y="35433"/>
                  </a:lnTo>
                  <a:lnTo>
                    <a:pt x="4810506" y="62229"/>
                  </a:lnTo>
                  <a:lnTo>
                    <a:pt x="4810506" y="677290"/>
                  </a:lnTo>
                  <a:lnTo>
                    <a:pt x="4805045" y="704088"/>
                  </a:lnTo>
                  <a:lnTo>
                    <a:pt x="4790313" y="725804"/>
                  </a:lnTo>
                  <a:lnTo>
                    <a:pt x="4768469" y="740537"/>
                  </a:lnTo>
                  <a:lnTo>
                    <a:pt x="4741799" y="745998"/>
                  </a:lnTo>
                  <a:lnTo>
                    <a:pt x="62217" y="745998"/>
                  </a:lnTo>
                  <a:lnTo>
                    <a:pt x="35521" y="740537"/>
                  </a:lnTo>
                  <a:lnTo>
                    <a:pt x="13703" y="725804"/>
                  </a:lnTo>
                  <a:lnTo>
                    <a:pt x="0" y="705485"/>
                  </a:lnTo>
                  <a:lnTo>
                    <a:pt x="1676" y="711962"/>
                  </a:lnTo>
                  <a:lnTo>
                    <a:pt x="31546" y="751839"/>
                  </a:lnTo>
                  <a:lnTo>
                    <a:pt x="73888" y="764793"/>
                  </a:lnTo>
                  <a:lnTo>
                    <a:pt x="4753864" y="764793"/>
                  </a:lnTo>
                  <a:lnTo>
                    <a:pt x="4795647" y="752093"/>
                  </a:lnTo>
                  <a:lnTo>
                    <a:pt x="4807331" y="742441"/>
                  </a:lnTo>
                  <a:lnTo>
                    <a:pt x="4807458" y="742061"/>
                  </a:lnTo>
                  <a:lnTo>
                    <a:pt x="4816602" y="731138"/>
                  </a:lnTo>
                  <a:lnTo>
                    <a:pt x="4829302" y="688975"/>
                  </a:lnTo>
                  <a:lnTo>
                    <a:pt x="4829302" y="73533"/>
                  </a:lnTo>
                  <a:lnTo>
                    <a:pt x="4816221" y="31241"/>
                  </a:lnTo>
                  <a:lnTo>
                    <a:pt x="4782693" y="3937"/>
                  </a:lnTo>
                  <a:lnTo>
                    <a:pt x="4775708" y="1397"/>
                  </a:lnTo>
                  <a:lnTo>
                    <a:pt x="4769993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49579" y="986027"/>
              <a:ext cx="4815840" cy="751840"/>
            </a:xfrm>
            <a:custGeom>
              <a:avLst/>
              <a:gdLst/>
              <a:ahLst/>
              <a:cxnLst/>
              <a:rect l="l" t="t" r="r" b="b"/>
              <a:pathLst>
                <a:path w="4815840" h="751839">
                  <a:moveTo>
                    <a:pt x="4747260" y="0"/>
                  </a:moveTo>
                  <a:lnTo>
                    <a:pt x="68579" y="0"/>
                  </a:lnTo>
                  <a:lnTo>
                    <a:pt x="41884" y="5334"/>
                  </a:lnTo>
                  <a:lnTo>
                    <a:pt x="20091" y="20066"/>
                  </a:lnTo>
                  <a:lnTo>
                    <a:pt x="5384" y="41783"/>
                  </a:lnTo>
                  <a:lnTo>
                    <a:pt x="0" y="68580"/>
                  </a:lnTo>
                  <a:lnTo>
                    <a:pt x="0" y="682751"/>
                  </a:lnTo>
                  <a:lnTo>
                    <a:pt x="5384" y="709422"/>
                  </a:lnTo>
                  <a:lnTo>
                    <a:pt x="20091" y="731266"/>
                  </a:lnTo>
                  <a:lnTo>
                    <a:pt x="41884" y="745998"/>
                  </a:lnTo>
                  <a:lnTo>
                    <a:pt x="68579" y="751332"/>
                  </a:lnTo>
                  <a:lnTo>
                    <a:pt x="4747260" y="751332"/>
                  </a:lnTo>
                  <a:lnTo>
                    <a:pt x="4773930" y="745998"/>
                  </a:lnTo>
                  <a:lnTo>
                    <a:pt x="4795774" y="731266"/>
                  </a:lnTo>
                  <a:lnTo>
                    <a:pt x="4810379" y="709422"/>
                  </a:lnTo>
                  <a:lnTo>
                    <a:pt x="4815840" y="682751"/>
                  </a:lnTo>
                  <a:lnTo>
                    <a:pt x="4815840" y="68580"/>
                  </a:lnTo>
                  <a:lnTo>
                    <a:pt x="4810379" y="41783"/>
                  </a:lnTo>
                  <a:lnTo>
                    <a:pt x="4795774" y="20066"/>
                  </a:lnTo>
                  <a:lnTo>
                    <a:pt x="4773930" y="5334"/>
                  </a:lnTo>
                  <a:lnTo>
                    <a:pt x="4747260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0341" y="986789"/>
              <a:ext cx="4815840" cy="751840"/>
            </a:xfrm>
            <a:custGeom>
              <a:avLst/>
              <a:gdLst/>
              <a:ahLst/>
              <a:cxnLst/>
              <a:rect l="l" t="t" r="r" b="b"/>
              <a:pathLst>
                <a:path w="4815840" h="751839">
                  <a:moveTo>
                    <a:pt x="0" y="68580"/>
                  </a:moveTo>
                  <a:lnTo>
                    <a:pt x="5384" y="41783"/>
                  </a:lnTo>
                  <a:lnTo>
                    <a:pt x="20091" y="20065"/>
                  </a:lnTo>
                  <a:lnTo>
                    <a:pt x="41884" y="5334"/>
                  </a:lnTo>
                  <a:lnTo>
                    <a:pt x="68579" y="0"/>
                  </a:lnTo>
                  <a:lnTo>
                    <a:pt x="4747260" y="0"/>
                  </a:lnTo>
                  <a:lnTo>
                    <a:pt x="4773930" y="5334"/>
                  </a:lnTo>
                  <a:lnTo>
                    <a:pt x="4795774" y="20065"/>
                  </a:lnTo>
                  <a:lnTo>
                    <a:pt x="4810379" y="41783"/>
                  </a:lnTo>
                  <a:lnTo>
                    <a:pt x="4815840" y="68580"/>
                  </a:lnTo>
                  <a:lnTo>
                    <a:pt x="4815840" y="682751"/>
                  </a:lnTo>
                  <a:lnTo>
                    <a:pt x="4810379" y="709422"/>
                  </a:lnTo>
                  <a:lnTo>
                    <a:pt x="4795774" y="731265"/>
                  </a:lnTo>
                  <a:lnTo>
                    <a:pt x="4773930" y="745998"/>
                  </a:lnTo>
                  <a:lnTo>
                    <a:pt x="4747260" y="751332"/>
                  </a:lnTo>
                  <a:lnTo>
                    <a:pt x="68579" y="751332"/>
                  </a:lnTo>
                  <a:lnTo>
                    <a:pt x="41884" y="745998"/>
                  </a:lnTo>
                  <a:lnTo>
                    <a:pt x="20091" y="731265"/>
                  </a:lnTo>
                  <a:lnTo>
                    <a:pt x="5384" y="709422"/>
                  </a:lnTo>
                  <a:lnTo>
                    <a:pt x="0" y="682751"/>
                  </a:lnTo>
                  <a:lnTo>
                    <a:pt x="0" y="68580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35863" y="986027"/>
              <a:ext cx="56515" cy="751840"/>
            </a:xfrm>
            <a:custGeom>
              <a:avLst/>
              <a:gdLst/>
              <a:ahLst/>
              <a:cxnLst/>
              <a:rect l="l" t="t" r="r" b="b"/>
              <a:pathLst>
                <a:path w="56515" h="751839">
                  <a:moveTo>
                    <a:pt x="28193" y="0"/>
                  </a:moveTo>
                  <a:lnTo>
                    <a:pt x="17221" y="2286"/>
                  </a:lnTo>
                  <a:lnTo>
                    <a:pt x="8254" y="8382"/>
                  </a:lnTo>
                  <a:lnTo>
                    <a:pt x="2209" y="17399"/>
                  </a:lnTo>
                  <a:lnTo>
                    <a:pt x="0" y="28575"/>
                  </a:lnTo>
                  <a:lnTo>
                    <a:pt x="0" y="722757"/>
                  </a:lnTo>
                  <a:lnTo>
                    <a:pt x="2209" y="733933"/>
                  </a:lnTo>
                  <a:lnTo>
                    <a:pt x="8254" y="742950"/>
                  </a:lnTo>
                  <a:lnTo>
                    <a:pt x="17221" y="749046"/>
                  </a:lnTo>
                  <a:lnTo>
                    <a:pt x="28193" y="751332"/>
                  </a:lnTo>
                  <a:lnTo>
                    <a:pt x="39166" y="749046"/>
                  </a:lnTo>
                  <a:lnTo>
                    <a:pt x="48132" y="742950"/>
                  </a:lnTo>
                  <a:lnTo>
                    <a:pt x="54178" y="733933"/>
                  </a:lnTo>
                  <a:lnTo>
                    <a:pt x="56387" y="722757"/>
                  </a:lnTo>
                  <a:lnTo>
                    <a:pt x="56387" y="28575"/>
                  </a:lnTo>
                  <a:lnTo>
                    <a:pt x="54178" y="17399"/>
                  </a:lnTo>
                  <a:lnTo>
                    <a:pt x="48132" y="8382"/>
                  </a:lnTo>
                  <a:lnTo>
                    <a:pt x="39166" y="2286"/>
                  </a:lnTo>
                  <a:lnTo>
                    <a:pt x="28193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435863" y="1846802"/>
            <a:ext cx="4849495" cy="974090"/>
            <a:chOff x="435863" y="1846802"/>
            <a:chExt cx="4849495" cy="974090"/>
          </a:xfrm>
        </p:grpSpPr>
        <p:sp>
          <p:nvSpPr>
            <p:cNvPr id="10" name="object 10"/>
            <p:cNvSpPr/>
            <p:nvPr/>
          </p:nvSpPr>
          <p:spPr>
            <a:xfrm>
              <a:off x="455675" y="1860803"/>
              <a:ext cx="4829175" cy="959485"/>
            </a:xfrm>
            <a:custGeom>
              <a:avLst/>
              <a:gdLst/>
              <a:ahLst/>
              <a:cxnLst/>
              <a:rect l="l" t="t" r="r" b="b"/>
              <a:pathLst>
                <a:path w="4829175" h="959485">
                  <a:moveTo>
                    <a:pt x="4770247" y="0"/>
                  </a:moveTo>
                  <a:lnTo>
                    <a:pt x="4790313" y="13588"/>
                  </a:lnTo>
                  <a:lnTo>
                    <a:pt x="4805045" y="35306"/>
                  </a:lnTo>
                  <a:lnTo>
                    <a:pt x="4810379" y="61976"/>
                  </a:lnTo>
                  <a:lnTo>
                    <a:pt x="4810379" y="872109"/>
                  </a:lnTo>
                  <a:lnTo>
                    <a:pt x="4805045" y="898779"/>
                  </a:lnTo>
                  <a:lnTo>
                    <a:pt x="4790313" y="920623"/>
                  </a:lnTo>
                  <a:lnTo>
                    <a:pt x="4768469" y="935228"/>
                  </a:lnTo>
                  <a:lnTo>
                    <a:pt x="4741799" y="940562"/>
                  </a:lnTo>
                  <a:lnTo>
                    <a:pt x="62204" y="940562"/>
                  </a:lnTo>
                  <a:lnTo>
                    <a:pt x="35496" y="935228"/>
                  </a:lnTo>
                  <a:lnTo>
                    <a:pt x="13677" y="920623"/>
                  </a:lnTo>
                  <a:lnTo>
                    <a:pt x="0" y="900303"/>
                  </a:lnTo>
                  <a:lnTo>
                    <a:pt x="1650" y="906653"/>
                  </a:lnTo>
                  <a:lnTo>
                    <a:pt x="31800" y="946658"/>
                  </a:lnTo>
                  <a:lnTo>
                    <a:pt x="73875" y="959485"/>
                  </a:lnTo>
                  <a:lnTo>
                    <a:pt x="4753864" y="959358"/>
                  </a:lnTo>
                  <a:lnTo>
                    <a:pt x="4795520" y="946658"/>
                  </a:lnTo>
                  <a:lnTo>
                    <a:pt x="4807204" y="937260"/>
                  </a:lnTo>
                  <a:lnTo>
                    <a:pt x="4816221" y="926211"/>
                  </a:lnTo>
                  <a:lnTo>
                    <a:pt x="4829175" y="883793"/>
                  </a:lnTo>
                  <a:lnTo>
                    <a:pt x="4829175" y="73279"/>
                  </a:lnTo>
                  <a:lnTo>
                    <a:pt x="4816094" y="31115"/>
                  </a:lnTo>
                  <a:lnTo>
                    <a:pt x="4795774" y="10922"/>
                  </a:lnTo>
                  <a:lnTo>
                    <a:pt x="4770247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49579" y="1853183"/>
              <a:ext cx="4815840" cy="948055"/>
            </a:xfrm>
            <a:custGeom>
              <a:avLst/>
              <a:gdLst/>
              <a:ahLst/>
              <a:cxnLst/>
              <a:rect l="l" t="t" r="r" b="b"/>
              <a:pathLst>
                <a:path w="4815840" h="948055">
                  <a:moveTo>
                    <a:pt x="4747260" y="0"/>
                  </a:moveTo>
                  <a:lnTo>
                    <a:pt x="68579" y="0"/>
                  </a:lnTo>
                  <a:lnTo>
                    <a:pt x="41884" y="5333"/>
                  </a:lnTo>
                  <a:lnTo>
                    <a:pt x="20091" y="20065"/>
                  </a:lnTo>
                  <a:lnTo>
                    <a:pt x="5384" y="41909"/>
                  </a:lnTo>
                  <a:lnTo>
                    <a:pt x="0" y="68579"/>
                  </a:lnTo>
                  <a:lnTo>
                    <a:pt x="0" y="879093"/>
                  </a:lnTo>
                  <a:lnTo>
                    <a:pt x="5384" y="905890"/>
                  </a:lnTo>
                  <a:lnTo>
                    <a:pt x="20091" y="927607"/>
                  </a:lnTo>
                  <a:lnTo>
                    <a:pt x="41884" y="942339"/>
                  </a:lnTo>
                  <a:lnTo>
                    <a:pt x="68579" y="947673"/>
                  </a:lnTo>
                  <a:lnTo>
                    <a:pt x="4747260" y="947673"/>
                  </a:lnTo>
                  <a:lnTo>
                    <a:pt x="4773930" y="942339"/>
                  </a:lnTo>
                  <a:lnTo>
                    <a:pt x="4795774" y="927607"/>
                  </a:lnTo>
                  <a:lnTo>
                    <a:pt x="4810379" y="905890"/>
                  </a:lnTo>
                  <a:lnTo>
                    <a:pt x="4815840" y="879093"/>
                  </a:lnTo>
                  <a:lnTo>
                    <a:pt x="4815840" y="68579"/>
                  </a:lnTo>
                  <a:lnTo>
                    <a:pt x="4810379" y="41909"/>
                  </a:lnTo>
                  <a:lnTo>
                    <a:pt x="4795774" y="20065"/>
                  </a:lnTo>
                  <a:lnTo>
                    <a:pt x="4773930" y="5333"/>
                  </a:lnTo>
                  <a:lnTo>
                    <a:pt x="4747260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50341" y="1853945"/>
              <a:ext cx="4815840" cy="948055"/>
            </a:xfrm>
            <a:custGeom>
              <a:avLst/>
              <a:gdLst/>
              <a:ahLst/>
              <a:cxnLst/>
              <a:rect l="l" t="t" r="r" b="b"/>
              <a:pathLst>
                <a:path w="4815840" h="948055">
                  <a:moveTo>
                    <a:pt x="0" y="68579"/>
                  </a:moveTo>
                  <a:lnTo>
                    <a:pt x="5384" y="41909"/>
                  </a:lnTo>
                  <a:lnTo>
                    <a:pt x="20091" y="20065"/>
                  </a:lnTo>
                  <a:lnTo>
                    <a:pt x="41884" y="5333"/>
                  </a:lnTo>
                  <a:lnTo>
                    <a:pt x="68579" y="0"/>
                  </a:lnTo>
                  <a:lnTo>
                    <a:pt x="4747260" y="0"/>
                  </a:lnTo>
                  <a:lnTo>
                    <a:pt x="4773930" y="5333"/>
                  </a:lnTo>
                  <a:lnTo>
                    <a:pt x="4795774" y="20065"/>
                  </a:lnTo>
                  <a:lnTo>
                    <a:pt x="4810379" y="41909"/>
                  </a:lnTo>
                  <a:lnTo>
                    <a:pt x="4815840" y="68579"/>
                  </a:lnTo>
                  <a:lnTo>
                    <a:pt x="4815840" y="879093"/>
                  </a:lnTo>
                  <a:lnTo>
                    <a:pt x="4810379" y="905890"/>
                  </a:lnTo>
                  <a:lnTo>
                    <a:pt x="4795774" y="927607"/>
                  </a:lnTo>
                  <a:lnTo>
                    <a:pt x="4773930" y="942339"/>
                  </a:lnTo>
                  <a:lnTo>
                    <a:pt x="4747260" y="947673"/>
                  </a:lnTo>
                  <a:lnTo>
                    <a:pt x="68579" y="947673"/>
                  </a:lnTo>
                  <a:lnTo>
                    <a:pt x="41884" y="942339"/>
                  </a:lnTo>
                  <a:lnTo>
                    <a:pt x="20091" y="927607"/>
                  </a:lnTo>
                  <a:lnTo>
                    <a:pt x="5384" y="905890"/>
                  </a:lnTo>
                  <a:lnTo>
                    <a:pt x="0" y="879093"/>
                  </a:lnTo>
                  <a:lnTo>
                    <a:pt x="0" y="68579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35863" y="1853183"/>
              <a:ext cx="56515" cy="948055"/>
            </a:xfrm>
            <a:custGeom>
              <a:avLst/>
              <a:gdLst/>
              <a:ahLst/>
              <a:cxnLst/>
              <a:rect l="l" t="t" r="r" b="b"/>
              <a:pathLst>
                <a:path w="56515" h="948055">
                  <a:moveTo>
                    <a:pt x="28193" y="0"/>
                  </a:moveTo>
                  <a:lnTo>
                    <a:pt x="17221" y="2286"/>
                  </a:lnTo>
                  <a:lnTo>
                    <a:pt x="8254" y="8381"/>
                  </a:lnTo>
                  <a:lnTo>
                    <a:pt x="2209" y="17525"/>
                  </a:lnTo>
                  <a:lnTo>
                    <a:pt x="0" y="28575"/>
                  </a:lnTo>
                  <a:lnTo>
                    <a:pt x="0" y="919098"/>
                  </a:lnTo>
                  <a:lnTo>
                    <a:pt x="2209" y="930274"/>
                  </a:lnTo>
                  <a:lnTo>
                    <a:pt x="8254" y="939291"/>
                  </a:lnTo>
                  <a:lnTo>
                    <a:pt x="17221" y="945388"/>
                  </a:lnTo>
                  <a:lnTo>
                    <a:pt x="28193" y="947673"/>
                  </a:lnTo>
                  <a:lnTo>
                    <a:pt x="39166" y="945388"/>
                  </a:lnTo>
                  <a:lnTo>
                    <a:pt x="48132" y="939291"/>
                  </a:lnTo>
                  <a:lnTo>
                    <a:pt x="54178" y="930274"/>
                  </a:lnTo>
                  <a:lnTo>
                    <a:pt x="56387" y="919098"/>
                  </a:lnTo>
                  <a:lnTo>
                    <a:pt x="56387" y="28575"/>
                  </a:lnTo>
                  <a:lnTo>
                    <a:pt x="54178" y="17525"/>
                  </a:lnTo>
                  <a:lnTo>
                    <a:pt x="48132" y="8381"/>
                  </a:lnTo>
                  <a:lnTo>
                    <a:pt x="39166" y="2286"/>
                  </a:lnTo>
                  <a:lnTo>
                    <a:pt x="28193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22198" y="1101978"/>
            <a:ext cx="4207510" cy="1517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4A4A4A"/>
                </a:solidFill>
                <a:latin typeface="Georgia"/>
                <a:cs typeface="Georgia"/>
              </a:rPr>
              <a:t>Set</a:t>
            </a:r>
            <a:r>
              <a:rPr dirty="0" sz="1250" spc="5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250">
                <a:solidFill>
                  <a:srgbClr val="4A4A4A"/>
                </a:solidFill>
                <a:latin typeface="Georgia"/>
                <a:cs typeface="Georgia"/>
              </a:rPr>
              <a:t>—</a:t>
            </a:r>
            <a:r>
              <a:rPr dirty="0" sz="1250" spc="2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250">
                <a:solidFill>
                  <a:srgbClr val="4A4A4A"/>
                </a:solidFill>
                <a:latin typeface="Georgia"/>
                <a:cs typeface="Georgia"/>
              </a:rPr>
              <a:t>#1</a:t>
            </a:r>
            <a:r>
              <a:rPr dirty="0" sz="1250" spc="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250" spc="-10">
                <a:solidFill>
                  <a:srgbClr val="4A4A4A"/>
                </a:solidFill>
                <a:latin typeface="Georgia"/>
                <a:cs typeface="Georgia"/>
              </a:rPr>
              <a:t>Category</a:t>
            </a: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₹3.67</a:t>
            </a:r>
            <a:r>
              <a:rPr dirty="0" sz="10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Cr</a:t>
            </a:r>
            <a:r>
              <a:rPr dirty="0" sz="1000" spc="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000" spc="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47,207</a:t>
            </a:r>
            <a:r>
              <a:rPr dirty="0" sz="1000" spc="1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1000" spc="11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000" spc="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Ranked</a:t>
            </a:r>
            <a:r>
              <a:rPr dirty="0" sz="10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#1</a:t>
            </a:r>
            <a:r>
              <a:rPr dirty="0" sz="1000" spc="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every</a:t>
            </a:r>
            <a:r>
              <a:rPr dirty="0" sz="1000" spc="1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month</a:t>
            </a:r>
            <a:r>
              <a:rPr dirty="0" sz="1000" spc="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30">
                <a:solidFill>
                  <a:srgbClr val="4A4A4A"/>
                </a:solidFill>
                <a:latin typeface="Georgia"/>
                <a:cs typeface="Georgia"/>
              </a:rPr>
              <a:t>(Apr–</a:t>
            </a:r>
            <a:r>
              <a:rPr dirty="0" sz="1000" spc="-20">
                <a:solidFill>
                  <a:srgbClr val="4A4A4A"/>
                </a:solidFill>
                <a:latin typeface="Georgia"/>
                <a:cs typeface="Georgia"/>
              </a:rPr>
              <a:t>Jun)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4A4A4A"/>
                </a:solidFill>
                <a:latin typeface="Georgia"/>
                <a:cs typeface="Georgia"/>
              </a:rPr>
              <a:t>Kurta</a:t>
            </a:r>
            <a:r>
              <a:rPr dirty="0" sz="1250" spc="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250">
                <a:solidFill>
                  <a:srgbClr val="4A4A4A"/>
                </a:solidFill>
                <a:latin typeface="Georgia"/>
                <a:cs typeface="Georgia"/>
              </a:rPr>
              <a:t>—</a:t>
            </a:r>
            <a:r>
              <a:rPr dirty="0" sz="1250" spc="25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250">
                <a:solidFill>
                  <a:srgbClr val="4A4A4A"/>
                </a:solidFill>
                <a:latin typeface="Georgia"/>
                <a:cs typeface="Georgia"/>
              </a:rPr>
              <a:t>#2</a:t>
            </a:r>
            <a:r>
              <a:rPr dirty="0" sz="1250" spc="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250" spc="-10">
                <a:solidFill>
                  <a:srgbClr val="4A4A4A"/>
                </a:solidFill>
                <a:latin typeface="Georgia"/>
                <a:cs typeface="Georgia"/>
              </a:rPr>
              <a:t>Category</a:t>
            </a: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₹1.96</a:t>
            </a:r>
            <a:r>
              <a:rPr dirty="0" sz="10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Cr</a:t>
            </a:r>
            <a:r>
              <a:rPr dirty="0" sz="1000" spc="11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000" spc="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45,917</a:t>
            </a:r>
            <a:r>
              <a:rPr dirty="0" sz="10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10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000" spc="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Together</a:t>
            </a:r>
            <a:r>
              <a:rPr dirty="0" sz="1000" spc="1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with</a:t>
            </a:r>
            <a:r>
              <a:rPr dirty="0" sz="1000" spc="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Set,</a:t>
            </a:r>
            <a:r>
              <a:rPr dirty="0" sz="10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accounts</a:t>
            </a:r>
            <a:r>
              <a:rPr dirty="0" sz="1000" spc="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for</a:t>
            </a:r>
            <a:r>
              <a:rPr dirty="0" sz="10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75" b="1">
                <a:solidFill>
                  <a:srgbClr val="4A4A4A"/>
                </a:solidFill>
                <a:latin typeface="Georgia"/>
                <a:cs typeface="Georgia"/>
              </a:rPr>
              <a:t>86.4%</a:t>
            </a:r>
            <a:r>
              <a:rPr dirty="0" sz="1000" spc="10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of</a:t>
            </a:r>
            <a:r>
              <a:rPr dirty="0" sz="1000" spc="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total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endParaRPr sz="1000">
              <a:latin typeface="Georgia"/>
              <a:cs typeface="Georg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5863" y="2912078"/>
            <a:ext cx="4849495" cy="777875"/>
            <a:chOff x="435863" y="2912078"/>
            <a:chExt cx="4849495" cy="777875"/>
          </a:xfrm>
        </p:grpSpPr>
        <p:sp>
          <p:nvSpPr>
            <p:cNvPr id="16" name="object 16"/>
            <p:cNvSpPr/>
            <p:nvPr/>
          </p:nvSpPr>
          <p:spPr>
            <a:xfrm>
              <a:off x="455675" y="2924556"/>
              <a:ext cx="4829810" cy="765175"/>
            </a:xfrm>
            <a:custGeom>
              <a:avLst/>
              <a:gdLst/>
              <a:ahLst/>
              <a:cxnLst/>
              <a:rect l="l" t="t" r="r" b="b"/>
              <a:pathLst>
                <a:path w="4829810" h="765175">
                  <a:moveTo>
                    <a:pt x="4769993" y="0"/>
                  </a:moveTo>
                  <a:lnTo>
                    <a:pt x="4790313" y="13716"/>
                  </a:lnTo>
                  <a:lnTo>
                    <a:pt x="4805045" y="35560"/>
                  </a:lnTo>
                  <a:lnTo>
                    <a:pt x="4810506" y="62230"/>
                  </a:lnTo>
                  <a:lnTo>
                    <a:pt x="4810506" y="677291"/>
                  </a:lnTo>
                  <a:lnTo>
                    <a:pt x="4805045" y="704088"/>
                  </a:lnTo>
                  <a:lnTo>
                    <a:pt x="4790313" y="725805"/>
                  </a:lnTo>
                  <a:lnTo>
                    <a:pt x="4768469" y="740537"/>
                  </a:lnTo>
                  <a:lnTo>
                    <a:pt x="4741799" y="745997"/>
                  </a:lnTo>
                  <a:lnTo>
                    <a:pt x="62217" y="745997"/>
                  </a:lnTo>
                  <a:lnTo>
                    <a:pt x="20675" y="730631"/>
                  </a:lnTo>
                  <a:lnTo>
                    <a:pt x="0" y="705485"/>
                  </a:lnTo>
                  <a:lnTo>
                    <a:pt x="1676" y="711962"/>
                  </a:lnTo>
                  <a:lnTo>
                    <a:pt x="11290" y="731774"/>
                  </a:lnTo>
                  <a:lnTo>
                    <a:pt x="20840" y="743077"/>
                  </a:lnTo>
                  <a:lnTo>
                    <a:pt x="31546" y="751840"/>
                  </a:lnTo>
                  <a:lnTo>
                    <a:pt x="73888" y="764794"/>
                  </a:lnTo>
                  <a:lnTo>
                    <a:pt x="4753864" y="764794"/>
                  </a:lnTo>
                  <a:lnTo>
                    <a:pt x="4795647" y="752094"/>
                  </a:lnTo>
                  <a:lnTo>
                    <a:pt x="4807585" y="742188"/>
                  </a:lnTo>
                  <a:lnTo>
                    <a:pt x="4816221" y="731774"/>
                  </a:lnTo>
                  <a:lnTo>
                    <a:pt x="4829302" y="689102"/>
                  </a:lnTo>
                  <a:lnTo>
                    <a:pt x="4829302" y="73532"/>
                  </a:lnTo>
                  <a:lnTo>
                    <a:pt x="4816221" y="31242"/>
                  </a:lnTo>
                  <a:lnTo>
                    <a:pt x="4782693" y="3937"/>
                  </a:lnTo>
                  <a:lnTo>
                    <a:pt x="4775708" y="1396"/>
                  </a:lnTo>
                  <a:lnTo>
                    <a:pt x="4769993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449579" y="2918460"/>
              <a:ext cx="4815840" cy="751840"/>
            </a:xfrm>
            <a:custGeom>
              <a:avLst/>
              <a:gdLst/>
              <a:ahLst/>
              <a:cxnLst/>
              <a:rect l="l" t="t" r="r" b="b"/>
              <a:pathLst>
                <a:path w="4815840" h="751839">
                  <a:moveTo>
                    <a:pt x="4747260" y="0"/>
                  </a:moveTo>
                  <a:lnTo>
                    <a:pt x="68579" y="0"/>
                  </a:lnTo>
                  <a:lnTo>
                    <a:pt x="41884" y="5333"/>
                  </a:lnTo>
                  <a:lnTo>
                    <a:pt x="20091" y="20065"/>
                  </a:lnTo>
                  <a:lnTo>
                    <a:pt x="5384" y="41909"/>
                  </a:lnTo>
                  <a:lnTo>
                    <a:pt x="0" y="68579"/>
                  </a:lnTo>
                  <a:lnTo>
                    <a:pt x="0" y="682751"/>
                  </a:lnTo>
                  <a:lnTo>
                    <a:pt x="5384" y="709421"/>
                  </a:lnTo>
                  <a:lnTo>
                    <a:pt x="20091" y="731265"/>
                  </a:lnTo>
                  <a:lnTo>
                    <a:pt x="41884" y="745997"/>
                  </a:lnTo>
                  <a:lnTo>
                    <a:pt x="68579" y="751331"/>
                  </a:lnTo>
                  <a:lnTo>
                    <a:pt x="4747260" y="751331"/>
                  </a:lnTo>
                  <a:lnTo>
                    <a:pt x="4773930" y="745997"/>
                  </a:lnTo>
                  <a:lnTo>
                    <a:pt x="4795774" y="731265"/>
                  </a:lnTo>
                  <a:lnTo>
                    <a:pt x="4810379" y="709421"/>
                  </a:lnTo>
                  <a:lnTo>
                    <a:pt x="4815840" y="682751"/>
                  </a:lnTo>
                  <a:lnTo>
                    <a:pt x="4815840" y="68579"/>
                  </a:lnTo>
                  <a:lnTo>
                    <a:pt x="4810379" y="41909"/>
                  </a:lnTo>
                  <a:lnTo>
                    <a:pt x="4795774" y="20065"/>
                  </a:lnTo>
                  <a:lnTo>
                    <a:pt x="4773930" y="5333"/>
                  </a:lnTo>
                  <a:lnTo>
                    <a:pt x="4747260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450341" y="2919222"/>
              <a:ext cx="4815840" cy="751840"/>
            </a:xfrm>
            <a:custGeom>
              <a:avLst/>
              <a:gdLst/>
              <a:ahLst/>
              <a:cxnLst/>
              <a:rect l="l" t="t" r="r" b="b"/>
              <a:pathLst>
                <a:path w="4815840" h="751839">
                  <a:moveTo>
                    <a:pt x="0" y="68579"/>
                  </a:moveTo>
                  <a:lnTo>
                    <a:pt x="5384" y="41909"/>
                  </a:lnTo>
                  <a:lnTo>
                    <a:pt x="20091" y="20065"/>
                  </a:lnTo>
                  <a:lnTo>
                    <a:pt x="41884" y="5333"/>
                  </a:lnTo>
                  <a:lnTo>
                    <a:pt x="68579" y="0"/>
                  </a:lnTo>
                  <a:lnTo>
                    <a:pt x="4747260" y="0"/>
                  </a:lnTo>
                  <a:lnTo>
                    <a:pt x="4773930" y="5333"/>
                  </a:lnTo>
                  <a:lnTo>
                    <a:pt x="4795774" y="20065"/>
                  </a:lnTo>
                  <a:lnTo>
                    <a:pt x="4810379" y="41909"/>
                  </a:lnTo>
                  <a:lnTo>
                    <a:pt x="4815840" y="68579"/>
                  </a:lnTo>
                  <a:lnTo>
                    <a:pt x="4815840" y="682751"/>
                  </a:lnTo>
                  <a:lnTo>
                    <a:pt x="4810379" y="709421"/>
                  </a:lnTo>
                  <a:lnTo>
                    <a:pt x="4795774" y="731265"/>
                  </a:lnTo>
                  <a:lnTo>
                    <a:pt x="4773930" y="745997"/>
                  </a:lnTo>
                  <a:lnTo>
                    <a:pt x="4747260" y="751331"/>
                  </a:lnTo>
                  <a:lnTo>
                    <a:pt x="68579" y="751331"/>
                  </a:lnTo>
                  <a:lnTo>
                    <a:pt x="41884" y="745997"/>
                  </a:lnTo>
                  <a:lnTo>
                    <a:pt x="20091" y="731265"/>
                  </a:lnTo>
                  <a:lnTo>
                    <a:pt x="5384" y="709421"/>
                  </a:lnTo>
                  <a:lnTo>
                    <a:pt x="0" y="682751"/>
                  </a:lnTo>
                  <a:lnTo>
                    <a:pt x="0" y="68579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5863" y="2918460"/>
              <a:ext cx="56515" cy="751840"/>
            </a:xfrm>
            <a:custGeom>
              <a:avLst/>
              <a:gdLst/>
              <a:ahLst/>
              <a:cxnLst/>
              <a:rect l="l" t="t" r="r" b="b"/>
              <a:pathLst>
                <a:path w="56515" h="751839">
                  <a:moveTo>
                    <a:pt x="28193" y="0"/>
                  </a:moveTo>
                  <a:lnTo>
                    <a:pt x="17221" y="2285"/>
                  </a:lnTo>
                  <a:lnTo>
                    <a:pt x="8254" y="8381"/>
                  </a:lnTo>
                  <a:lnTo>
                    <a:pt x="2209" y="17398"/>
                  </a:lnTo>
                  <a:lnTo>
                    <a:pt x="0" y="28575"/>
                  </a:lnTo>
                  <a:lnTo>
                    <a:pt x="0" y="722756"/>
                  </a:lnTo>
                  <a:lnTo>
                    <a:pt x="2209" y="733932"/>
                  </a:lnTo>
                  <a:lnTo>
                    <a:pt x="8254" y="742949"/>
                  </a:lnTo>
                  <a:lnTo>
                    <a:pt x="17221" y="749045"/>
                  </a:lnTo>
                  <a:lnTo>
                    <a:pt x="28193" y="751331"/>
                  </a:lnTo>
                  <a:lnTo>
                    <a:pt x="39166" y="749045"/>
                  </a:lnTo>
                  <a:lnTo>
                    <a:pt x="48132" y="742949"/>
                  </a:lnTo>
                  <a:lnTo>
                    <a:pt x="54178" y="733932"/>
                  </a:lnTo>
                  <a:lnTo>
                    <a:pt x="56387" y="722756"/>
                  </a:lnTo>
                  <a:lnTo>
                    <a:pt x="56387" y="28575"/>
                  </a:lnTo>
                  <a:lnTo>
                    <a:pt x="54178" y="17398"/>
                  </a:lnTo>
                  <a:lnTo>
                    <a:pt x="48132" y="8381"/>
                  </a:lnTo>
                  <a:lnTo>
                    <a:pt x="39166" y="2285"/>
                  </a:lnTo>
                  <a:lnTo>
                    <a:pt x="28193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/>
          <p:cNvGrpSpPr/>
          <p:nvPr/>
        </p:nvGrpSpPr>
        <p:grpSpPr>
          <a:xfrm>
            <a:off x="435863" y="3779234"/>
            <a:ext cx="4849495" cy="974090"/>
            <a:chOff x="435863" y="3779234"/>
            <a:chExt cx="4849495" cy="974090"/>
          </a:xfrm>
        </p:grpSpPr>
        <p:sp>
          <p:nvSpPr>
            <p:cNvPr id="21" name="object 21"/>
            <p:cNvSpPr/>
            <p:nvPr/>
          </p:nvSpPr>
          <p:spPr>
            <a:xfrm>
              <a:off x="455675" y="3793236"/>
              <a:ext cx="4829175" cy="960119"/>
            </a:xfrm>
            <a:custGeom>
              <a:avLst/>
              <a:gdLst/>
              <a:ahLst/>
              <a:cxnLst/>
              <a:rect l="l" t="t" r="r" b="b"/>
              <a:pathLst>
                <a:path w="4829175" h="960120">
                  <a:moveTo>
                    <a:pt x="4770247" y="0"/>
                  </a:moveTo>
                  <a:lnTo>
                    <a:pt x="4790313" y="13588"/>
                  </a:lnTo>
                  <a:lnTo>
                    <a:pt x="4805045" y="35432"/>
                  </a:lnTo>
                  <a:lnTo>
                    <a:pt x="4810379" y="62102"/>
                  </a:lnTo>
                  <a:lnTo>
                    <a:pt x="4810379" y="872172"/>
                  </a:lnTo>
                  <a:lnTo>
                    <a:pt x="4805045" y="898842"/>
                  </a:lnTo>
                  <a:lnTo>
                    <a:pt x="4790313" y="920635"/>
                  </a:lnTo>
                  <a:lnTo>
                    <a:pt x="4768469" y="935316"/>
                  </a:lnTo>
                  <a:lnTo>
                    <a:pt x="4741799" y="940701"/>
                  </a:lnTo>
                  <a:lnTo>
                    <a:pt x="62217" y="940701"/>
                  </a:lnTo>
                  <a:lnTo>
                    <a:pt x="35509" y="935316"/>
                  </a:lnTo>
                  <a:lnTo>
                    <a:pt x="13690" y="920635"/>
                  </a:lnTo>
                  <a:lnTo>
                    <a:pt x="0" y="900341"/>
                  </a:lnTo>
                  <a:lnTo>
                    <a:pt x="1663" y="906665"/>
                  </a:lnTo>
                  <a:lnTo>
                    <a:pt x="30975" y="946175"/>
                  </a:lnTo>
                  <a:lnTo>
                    <a:pt x="73888" y="959510"/>
                  </a:lnTo>
                  <a:lnTo>
                    <a:pt x="4753737" y="959510"/>
                  </a:lnTo>
                  <a:lnTo>
                    <a:pt x="4797425" y="945235"/>
                  </a:lnTo>
                  <a:lnTo>
                    <a:pt x="4829175" y="883831"/>
                  </a:lnTo>
                  <a:lnTo>
                    <a:pt x="4829175" y="73405"/>
                  </a:lnTo>
                  <a:lnTo>
                    <a:pt x="4816094" y="31114"/>
                  </a:lnTo>
                  <a:lnTo>
                    <a:pt x="4782566" y="3809"/>
                  </a:lnTo>
                  <a:lnTo>
                    <a:pt x="4775581" y="1269"/>
                  </a:lnTo>
                  <a:lnTo>
                    <a:pt x="4770247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49579" y="3785616"/>
              <a:ext cx="4815840" cy="949325"/>
            </a:xfrm>
            <a:custGeom>
              <a:avLst/>
              <a:gdLst/>
              <a:ahLst/>
              <a:cxnLst/>
              <a:rect l="l" t="t" r="r" b="b"/>
              <a:pathLst>
                <a:path w="4815840" h="949325">
                  <a:moveTo>
                    <a:pt x="4747260" y="0"/>
                  </a:moveTo>
                  <a:lnTo>
                    <a:pt x="68579" y="0"/>
                  </a:lnTo>
                  <a:lnTo>
                    <a:pt x="41884" y="5334"/>
                  </a:lnTo>
                  <a:lnTo>
                    <a:pt x="20091" y="20066"/>
                  </a:lnTo>
                  <a:lnTo>
                    <a:pt x="5384" y="41910"/>
                  </a:lnTo>
                  <a:lnTo>
                    <a:pt x="0" y="68707"/>
                  </a:lnTo>
                  <a:lnTo>
                    <a:pt x="0" y="880465"/>
                  </a:lnTo>
                  <a:lnTo>
                    <a:pt x="5384" y="907199"/>
                  </a:lnTo>
                  <a:lnTo>
                    <a:pt x="20091" y="929030"/>
                  </a:lnTo>
                  <a:lnTo>
                    <a:pt x="41884" y="943749"/>
                  </a:lnTo>
                  <a:lnTo>
                    <a:pt x="68579" y="949147"/>
                  </a:lnTo>
                  <a:lnTo>
                    <a:pt x="4747260" y="949147"/>
                  </a:lnTo>
                  <a:lnTo>
                    <a:pt x="4773930" y="943749"/>
                  </a:lnTo>
                  <a:lnTo>
                    <a:pt x="4795774" y="929030"/>
                  </a:lnTo>
                  <a:lnTo>
                    <a:pt x="4810379" y="907199"/>
                  </a:lnTo>
                  <a:lnTo>
                    <a:pt x="4815840" y="880465"/>
                  </a:lnTo>
                  <a:lnTo>
                    <a:pt x="4815840" y="68707"/>
                  </a:lnTo>
                  <a:lnTo>
                    <a:pt x="4810379" y="41910"/>
                  </a:lnTo>
                  <a:lnTo>
                    <a:pt x="4795774" y="20066"/>
                  </a:lnTo>
                  <a:lnTo>
                    <a:pt x="4773930" y="5334"/>
                  </a:lnTo>
                  <a:lnTo>
                    <a:pt x="4747260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50341" y="3786378"/>
              <a:ext cx="4815840" cy="949325"/>
            </a:xfrm>
            <a:custGeom>
              <a:avLst/>
              <a:gdLst/>
              <a:ahLst/>
              <a:cxnLst/>
              <a:rect l="l" t="t" r="r" b="b"/>
              <a:pathLst>
                <a:path w="4815840" h="949325">
                  <a:moveTo>
                    <a:pt x="0" y="68707"/>
                  </a:moveTo>
                  <a:lnTo>
                    <a:pt x="5384" y="41910"/>
                  </a:lnTo>
                  <a:lnTo>
                    <a:pt x="20091" y="20066"/>
                  </a:lnTo>
                  <a:lnTo>
                    <a:pt x="41884" y="5334"/>
                  </a:lnTo>
                  <a:lnTo>
                    <a:pt x="68579" y="0"/>
                  </a:lnTo>
                  <a:lnTo>
                    <a:pt x="4747260" y="0"/>
                  </a:lnTo>
                  <a:lnTo>
                    <a:pt x="4773930" y="5334"/>
                  </a:lnTo>
                  <a:lnTo>
                    <a:pt x="4795774" y="20066"/>
                  </a:lnTo>
                  <a:lnTo>
                    <a:pt x="4810379" y="41910"/>
                  </a:lnTo>
                  <a:lnTo>
                    <a:pt x="4815840" y="68707"/>
                  </a:lnTo>
                  <a:lnTo>
                    <a:pt x="4815840" y="880465"/>
                  </a:lnTo>
                  <a:lnTo>
                    <a:pt x="4810379" y="907199"/>
                  </a:lnTo>
                  <a:lnTo>
                    <a:pt x="4795774" y="929030"/>
                  </a:lnTo>
                  <a:lnTo>
                    <a:pt x="4773930" y="943749"/>
                  </a:lnTo>
                  <a:lnTo>
                    <a:pt x="4747260" y="949147"/>
                  </a:lnTo>
                  <a:lnTo>
                    <a:pt x="68579" y="949147"/>
                  </a:lnTo>
                  <a:lnTo>
                    <a:pt x="41884" y="943749"/>
                  </a:lnTo>
                  <a:lnTo>
                    <a:pt x="20091" y="929030"/>
                  </a:lnTo>
                  <a:lnTo>
                    <a:pt x="5384" y="907199"/>
                  </a:lnTo>
                  <a:lnTo>
                    <a:pt x="0" y="880465"/>
                  </a:lnTo>
                  <a:lnTo>
                    <a:pt x="0" y="68707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35863" y="3785616"/>
              <a:ext cx="56515" cy="949325"/>
            </a:xfrm>
            <a:custGeom>
              <a:avLst/>
              <a:gdLst/>
              <a:ahLst/>
              <a:cxnLst/>
              <a:rect l="l" t="t" r="r" b="b"/>
              <a:pathLst>
                <a:path w="56515" h="949325">
                  <a:moveTo>
                    <a:pt x="28193" y="0"/>
                  </a:moveTo>
                  <a:lnTo>
                    <a:pt x="17221" y="2286"/>
                  </a:lnTo>
                  <a:lnTo>
                    <a:pt x="8254" y="8382"/>
                  </a:lnTo>
                  <a:lnTo>
                    <a:pt x="2209" y="17399"/>
                  </a:lnTo>
                  <a:lnTo>
                    <a:pt x="0" y="28575"/>
                  </a:lnTo>
                  <a:lnTo>
                    <a:pt x="0" y="920534"/>
                  </a:lnTo>
                  <a:lnTo>
                    <a:pt x="2222" y="931672"/>
                  </a:lnTo>
                  <a:lnTo>
                    <a:pt x="8267" y="940765"/>
                  </a:lnTo>
                  <a:lnTo>
                    <a:pt x="17233" y="946899"/>
                  </a:lnTo>
                  <a:lnTo>
                    <a:pt x="28193" y="949147"/>
                  </a:lnTo>
                  <a:lnTo>
                    <a:pt x="39166" y="946899"/>
                  </a:lnTo>
                  <a:lnTo>
                    <a:pt x="48132" y="940765"/>
                  </a:lnTo>
                  <a:lnTo>
                    <a:pt x="54178" y="931672"/>
                  </a:lnTo>
                  <a:lnTo>
                    <a:pt x="56387" y="920534"/>
                  </a:lnTo>
                  <a:lnTo>
                    <a:pt x="56387" y="28575"/>
                  </a:lnTo>
                  <a:lnTo>
                    <a:pt x="54178" y="17399"/>
                  </a:lnTo>
                  <a:lnTo>
                    <a:pt x="48132" y="8382"/>
                  </a:lnTo>
                  <a:lnTo>
                    <a:pt x="39166" y="2286"/>
                  </a:lnTo>
                  <a:lnTo>
                    <a:pt x="28193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22198" y="3035554"/>
            <a:ext cx="4205605" cy="15170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50">
                <a:solidFill>
                  <a:srgbClr val="4A4A4A"/>
                </a:solidFill>
                <a:latin typeface="Georgia"/>
                <a:cs typeface="Georgia"/>
              </a:rPr>
              <a:t>Western</a:t>
            </a:r>
            <a:r>
              <a:rPr dirty="0" sz="1250" spc="4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250" spc="-10">
                <a:solidFill>
                  <a:srgbClr val="4A4A4A"/>
                </a:solidFill>
                <a:latin typeface="Georgia"/>
                <a:cs typeface="Georgia"/>
              </a:rPr>
              <a:t>Dress</a:t>
            </a:r>
            <a:endParaRPr sz="125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₹1.06</a:t>
            </a:r>
            <a:r>
              <a:rPr dirty="0" sz="10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Cr</a:t>
            </a:r>
            <a:r>
              <a:rPr dirty="0" sz="10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000" spc="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14,713</a:t>
            </a:r>
            <a:r>
              <a:rPr dirty="0" sz="10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100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1000" spc="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Third-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largest</a:t>
            </a:r>
            <a:r>
              <a:rPr dirty="0" sz="1000" spc="1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contributor</a:t>
            </a: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0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1065"/>
              </a:spcBef>
            </a:pP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</a:pPr>
            <a:r>
              <a:rPr dirty="0" sz="1250">
                <a:solidFill>
                  <a:srgbClr val="4A4A4A"/>
                </a:solidFill>
                <a:latin typeface="Georgia"/>
                <a:cs typeface="Georgia"/>
              </a:rPr>
              <a:t>Cancellation</a:t>
            </a:r>
            <a:r>
              <a:rPr dirty="0" sz="1250" spc="125">
                <a:solidFill>
                  <a:srgbClr val="4A4A4A"/>
                </a:solidFill>
                <a:latin typeface="Georgia"/>
                <a:cs typeface="Georgia"/>
              </a:rPr>
              <a:t>  </a:t>
            </a:r>
            <a:r>
              <a:rPr dirty="0" sz="1250" spc="-10">
                <a:solidFill>
                  <a:srgbClr val="4A4A4A"/>
                </a:solidFill>
                <a:latin typeface="Georgia"/>
                <a:cs typeface="Georgia"/>
              </a:rPr>
              <a:t>Concern</a:t>
            </a:r>
            <a:endParaRPr sz="1250">
              <a:latin typeface="Georgia"/>
              <a:cs typeface="Georgia"/>
            </a:endParaRPr>
          </a:p>
          <a:p>
            <a:pPr marL="12700" marR="5080">
              <a:lnSpc>
                <a:spcPct val="127000"/>
              </a:lnSpc>
              <a:spcBef>
                <a:spcPts val="35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Set</a:t>
            </a:r>
            <a:r>
              <a:rPr dirty="0" sz="100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(14.60%)</a:t>
            </a:r>
            <a:r>
              <a:rPr dirty="0" sz="1000" spc="1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and</a:t>
            </a:r>
            <a:r>
              <a:rPr dirty="0" sz="1000" spc="1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Kurta</a:t>
            </a:r>
            <a:r>
              <a:rPr dirty="0" sz="10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(14.66%)</a:t>
            </a:r>
            <a:r>
              <a:rPr dirty="0" sz="1000" spc="1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have</a:t>
            </a:r>
            <a:r>
              <a:rPr dirty="0" sz="1000" spc="1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the</a:t>
            </a:r>
            <a:r>
              <a:rPr dirty="0" sz="100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highest</a:t>
            </a:r>
            <a:r>
              <a:rPr dirty="0" sz="1000" spc="1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cancellation</a:t>
            </a:r>
            <a:r>
              <a:rPr dirty="0" sz="1000" spc="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rates</a:t>
            </a:r>
            <a:r>
              <a:rPr dirty="0" sz="1000" spc="1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50">
                <a:solidFill>
                  <a:srgbClr val="4A4A4A"/>
                </a:solidFill>
                <a:latin typeface="Georgia"/>
                <a:cs typeface="Georgia"/>
              </a:rPr>
              <a:t>—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 potential</a:t>
            </a:r>
            <a:r>
              <a:rPr dirty="0" sz="1000" spc="2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sizing</a:t>
            </a:r>
            <a:r>
              <a:rPr dirty="0" sz="1000" spc="31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or</a:t>
            </a:r>
            <a:r>
              <a:rPr dirty="0" sz="1000" spc="2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quality-expectation</a:t>
            </a:r>
            <a:r>
              <a:rPr dirty="0" sz="1000" spc="25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issues</a:t>
            </a:r>
            <a:endParaRPr sz="10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209" y="446913"/>
            <a:ext cx="4057015" cy="444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50" spc="90"/>
              <a:t>Geographic</a:t>
            </a:r>
            <a:r>
              <a:rPr dirty="0" sz="2750" spc="270"/>
              <a:t> </a:t>
            </a:r>
            <a:r>
              <a:rPr dirty="0" sz="2750" spc="55"/>
              <a:t>Distribution</a:t>
            </a:r>
            <a:endParaRPr sz="2750"/>
          </a:p>
        </p:txBody>
      </p:sp>
      <p:pic>
        <p:nvPicPr>
          <p:cNvPr id="3" name="object 3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6823" y="1306067"/>
            <a:ext cx="3902964" cy="28102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Top</a:t>
            </a:r>
            <a:r>
              <a:rPr dirty="0" spc="95"/>
              <a:t> </a:t>
            </a:r>
            <a:r>
              <a:rPr dirty="0"/>
              <a:t>5</a:t>
            </a:r>
            <a:r>
              <a:rPr dirty="0" spc="150"/>
              <a:t> </a:t>
            </a:r>
            <a:r>
              <a:rPr dirty="0"/>
              <a:t>States</a:t>
            </a:r>
            <a:r>
              <a:rPr dirty="0" spc="120"/>
              <a:t> </a:t>
            </a:r>
            <a:r>
              <a:rPr dirty="0"/>
              <a:t>Drive</a:t>
            </a:r>
            <a:r>
              <a:rPr dirty="0" spc="235"/>
              <a:t> </a:t>
            </a:r>
            <a:r>
              <a:rPr dirty="0"/>
              <a:t>~55%</a:t>
            </a:r>
            <a:r>
              <a:rPr dirty="0" spc="125"/>
              <a:t> </a:t>
            </a:r>
            <a:r>
              <a:rPr dirty="0"/>
              <a:t>of</a:t>
            </a:r>
            <a:r>
              <a:rPr dirty="0" spc="204"/>
              <a:t> </a:t>
            </a:r>
            <a:r>
              <a:rPr dirty="0" spc="40"/>
              <a:t>Revenue</a:t>
            </a:r>
          </a:p>
          <a:p>
            <a:pPr marL="12700" marR="339090">
              <a:lnSpc>
                <a:spcPct val="133600"/>
              </a:lnSpc>
              <a:spcBef>
                <a:spcPts val="915"/>
              </a:spcBef>
            </a:pPr>
            <a:r>
              <a:rPr dirty="0" sz="1100">
                <a:solidFill>
                  <a:srgbClr val="4A4A4A"/>
                </a:solidFill>
              </a:rPr>
              <a:t>Maharashtra</a:t>
            </a:r>
            <a:r>
              <a:rPr dirty="0" sz="1100" spc="26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alone</a:t>
            </a:r>
            <a:r>
              <a:rPr dirty="0" sz="1100" spc="17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contributed</a:t>
            </a:r>
            <a:r>
              <a:rPr dirty="0" sz="1100" spc="225">
                <a:solidFill>
                  <a:srgbClr val="4A4A4A"/>
                </a:solidFill>
              </a:rPr>
              <a:t> </a:t>
            </a:r>
            <a:r>
              <a:rPr dirty="0" sz="1100" spc="-30" b="1">
                <a:solidFill>
                  <a:srgbClr val="4A4A4A"/>
                </a:solidFill>
                <a:latin typeface="Georgia"/>
                <a:cs typeface="Georgia"/>
              </a:rPr>
              <a:t>₹1.25</a:t>
            </a:r>
            <a:r>
              <a:rPr dirty="0" sz="1100" spc="65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b="1">
                <a:solidFill>
                  <a:srgbClr val="4A4A4A"/>
                </a:solidFill>
                <a:latin typeface="Georgia"/>
                <a:cs typeface="Georgia"/>
              </a:rPr>
              <a:t>Cr</a:t>
            </a:r>
            <a:r>
              <a:rPr dirty="0" sz="1100">
                <a:solidFill>
                  <a:srgbClr val="4A4A4A"/>
                </a:solidFill>
              </a:rPr>
              <a:t>.</a:t>
            </a:r>
            <a:r>
              <a:rPr dirty="0" sz="1100" spc="130">
                <a:solidFill>
                  <a:srgbClr val="4A4A4A"/>
                </a:solidFill>
              </a:rPr>
              <a:t> </a:t>
            </a:r>
            <a:r>
              <a:rPr dirty="0" sz="1100" spc="-10">
                <a:solidFill>
                  <a:srgbClr val="4A4A4A"/>
                </a:solidFill>
              </a:rPr>
              <a:t>Karnataka </a:t>
            </a:r>
            <a:r>
              <a:rPr dirty="0" sz="1100">
                <a:solidFill>
                  <a:srgbClr val="4A4A4A"/>
                </a:solidFill>
              </a:rPr>
              <a:t>follows</a:t>
            </a:r>
            <a:r>
              <a:rPr dirty="0" sz="1100" spc="114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at</a:t>
            </a:r>
            <a:r>
              <a:rPr dirty="0" sz="1100" spc="125">
                <a:solidFill>
                  <a:srgbClr val="4A4A4A"/>
                </a:solidFill>
              </a:rPr>
              <a:t> </a:t>
            </a:r>
            <a:r>
              <a:rPr dirty="0" sz="1100" spc="-20">
                <a:solidFill>
                  <a:srgbClr val="4A4A4A"/>
                </a:solidFill>
              </a:rPr>
              <a:t>₹98.3</a:t>
            </a:r>
            <a:r>
              <a:rPr dirty="0" sz="1100" spc="80">
                <a:solidFill>
                  <a:srgbClr val="4A4A4A"/>
                </a:solidFill>
              </a:rPr>
              <a:t> </a:t>
            </a:r>
            <a:r>
              <a:rPr dirty="0" sz="1100" spc="-20">
                <a:solidFill>
                  <a:srgbClr val="4A4A4A"/>
                </a:solidFill>
              </a:rPr>
              <a:t>Lakh.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1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/>
              <a:t>Top</a:t>
            </a:r>
            <a:r>
              <a:rPr dirty="0" spc="55"/>
              <a:t> </a:t>
            </a:r>
            <a:r>
              <a:rPr dirty="0"/>
              <a:t>Cities</a:t>
            </a:r>
            <a:r>
              <a:rPr dirty="0" spc="125"/>
              <a:t> </a:t>
            </a:r>
            <a:r>
              <a:rPr dirty="0" spc="50"/>
              <a:t>by</a:t>
            </a:r>
            <a:r>
              <a:rPr dirty="0" spc="155"/>
              <a:t> </a:t>
            </a:r>
            <a:r>
              <a:rPr dirty="0" spc="45"/>
              <a:t>Shipped</a:t>
            </a:r>
            <a:r>
              <a:rPr dirty="0" spc="110"/>
              <a:t> </a:t>
            </a:r>
            <a:r>
              <a:rPr dirty="0" spc="-10"/>
              <a:t>Orders</a:t>
            </a:r>
          </a:p>
          <a:p>
            <a:pPr>
              <a:lnSpc>
                <a:spcPct val="100000"/>
              </a:lnSpc>
              <a:spcBef>
                <a:spcPts val="85"/>
              </a:spcBef>
            </a:pPr>
          </a:p>
          <a:p>
            <a:pPr marL="354965" indent="-342265">
              <a:lnSpc>
                <a:spcPct val="100000"/>
              </a:lnSpc>
              <a:buAutoNum type="arabicPeriod"/>
              <a:tabLst>
                <a:tab pos="354965" algn="l"/>
              </a:tabLst>
            </a:pPr>
            <a:r>
              <a:rPr dirty="0" sz="1100">
                <a:solidFill>
                  <a:srgbClr val="4A4A4A"/>
                </a:solidFill>
              </a:rPr>
              <a:t>Bengaluru</a:t>
            </a:r>
            <a:r>
              <a:rPr dirty="0" sz="1100" spc="165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—</a:t>
            </a:r>
            <a:r>
              <a:rPr dirty="0" sz="1100" spc="330">
                <a:solidFill>
                  <a:srgbClr val="4A4A4A"/>
                </a:solidFill>
              </a:rPr>
              <a:t> </a:t>
            </a:r>
            <a:r>
              <a:rPr dirty="0" sz="1100" spc="-20">
                <a:solidFill>
                  <a:srgbClr val="4A4A4A"/>
                </a:solidFill>
              </a:rPr>
              <a:t>7,262</a:t>
            </a:r>
            <a:endParaRPr sz="1100"/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354965" algn="l"/>
              </a:tabLst>
            </a:pPr>
            <a:r>
              <a:rPr dirty="0" sz="1100" spc="10">
                <a:solidFill>
                  <a:srgbClr val="4A4A4A"/>
                </a:solidFill>
              </a:rPr>
              <a:t>Hyderabad</a:t>
            </a:r>
            <a:r>
              <a:rPr dirty="0" sz="1100" spc="155">
                <a:solidFill>
                  <a:srgbClr val="4A4A4A"/>
                </a:solidFill>
              </a:rPr>
              <a:t> </a:t>
            </a:r>
            <a:r>
              <a:rPr dirty="0" sz="1100" spc="10">
                <a:solidFill>
                  <a:srgbClr val="4A4A4A"/>
                </a:solidFill>
              </a:rPr>
              <a:t>—</a:t>
            </a:r>
            <a:r>
              <a:rPr dirty="0" sz="1100" spc="310">
                <a:solidFill>
                  <a:srgbClr val="4A4A4A"/>
                </a:solidFill>
              </a:rPr>
              <a:t> </a:t>
            </a:r>
            <a:r>
              <a:rPr dirty="0" sz="1100" spc="-20">
                <a:solidFill>
                  <a:srgbClr val="4A4A4A"/>
                </a:solidFill>
              </a:rPr>
              <a:t>5,271</a:t>
            </a:r>
            <a:endParaRPr sz="1100"/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54965" algn="l"/>
              </a:tabLst>
            </a:pPr>
            <a:r>
              <a:rPr dirty="0" sz="1100">
                <a:solidFill>
                  <a:srgbClr val="4A4A4A"/>
                </a:solidFill>
              </a:rPr>
              <a:t>Mumbai</a:t>
            </a:r>
            <a:r>
              <a:rPr dirty="0" sz="1100" spc="14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—</a:t>
            </a:r>
            <a:r>
              <a:rPr dirty="0" sz="1100" spc="265">
                <a:solidFill>
                  <a:srgbClr val="4A4A4A"/>
                </a:solidFill>
              </a:rPr>
              <a:t> </a:t>
            </a:r>
            <a:r>
              <a:rPr dirty="0" sz="1100" spc="-20">
                <a:solidFill>
                  <a:srgbClr val="4A4A4A"/>
                </a:solidFill>
              </a:rPr>
              <a:t>4,158</a:t>
            </a:r>
            <a:endParaRPr sz="1100"/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AutoNum type="arabicPeriod"/>
              <a:tabLst>
                <a:tab pos="354965" algn="l"/>
              </a:tabLst>
            </a:pPr>
            <a:r>
              <a:rPr dirty="0" sz="1100">
                <a:solidFill>
                  <a:srgbClr val="4A4A4A"/>
                </a:solidFill>
              </a:rPr>
              <a:t>Chennai</a:t>
            </a:r>
            <a:r>
              <a:rPr dirty="0" sz="1100" spc="135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—</a:t>
            </a:r>
            <a:r>
              <a:rPr dirty="0" sz="1100" spc="265">
                <a:solidFill>
                  <a:srgbClr val="4A4A4A"/>
                </a:solidFill>
              </a:rPr>
              <a:t> </a:t>
            </a:r>
            <a:r>
              <a:rPr dirty="0" sz="1100" spc="-10">
                <a:solidFill>
                  <a:srgbClr val="4A4A4A"/>
                </a:solidFill>
              </a:rPr>
              <a:t>3,691</a:t>
            </a:r>
            <a:endParaRPr sz="1100"/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AutoNum type="arabicPeriod"/>
              <a:tabLst>
                <a:tab pos="354965" algn="l"/>
              </a:tabLst>
            </a:pPr>
            <a:r>
              <a:rPr dirty="0" sz="1100">
                <a:solidFill>
                  <a:srgbClr val="4A4A4A"/>
                </a:solidFill>
              </a:rPr>
              <a:t>New</a:t>
            </a:r>
            <a:r>
              <a:rPr dirty="0" sz="1100" spc="13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Delhi</a:t>
            </a:r>
            <a:r>
              <a:rPr dirty="0" sz="1100" spc="5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—</a:t>
            </a:r>
            <a:r>
              <a:rPr dirty="0" sz="1100" spc="240">
                <a:solidFill>
                  <a:srgbClr val="4A4A4A"/>
                </a:solidFill>
              </a:rPr>
              <a:t> </a:t>
            </a:r>
            <a:r>
              <a:rPr dirty="0" sz="1100" spc="-20">
                <a:solidFill>
                  <a:srgbClr val="4A4A4A"/>
                </a:solidFill>
              </a:rPr>
              <a:t>3,660</a:t>
            </a:r>
            <a:endParaRPr sz="1100"/>
          </a:p>
          <a:p>
            <a:pPr>
              <a:lnSpc>
                <a:spcPct val="100000"/>
              </a:lnSpc>
            </a:pPr>
            <a:endParaRPr sz="1100"/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100"/>
          </a:p>
          <a:p>
            <a:pPr marL="12700" marR="5080">
              <a:lnSpc>
                <a:spcPct val="133600"/>
              </a:lnSpc>
            </a:pPr>
            <a:r>
              <a:rPr dirty="0" sz="1100">
                <a:solidFill>
                  <a:srgbClr val="4A4A4A"/>
                </a:solidFill>
              </a:rPr>
              <a:t>Metro</a:t>
            </a:r>
            <a:r>
              <a:rPr dirty="0" sz="1100" spc="25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cities</a:t>
            </a:r>
            <a:r>
              <a:rPr dirty="0" sz="1100" spc="254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dominate</a:t>
            </a:r>
            <a:r>
              <a:rPr dirty="0" sz="1100" spc="254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fulfilment,</a:t>
            </a:r>
            <a:r>
              <a:rPr dirty="0" sz="1100" spc="215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reflecting</a:t>
            </a:r>
            <a:r>
              <a:rPr dirty="0" sz="1100" spc="200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strong</a:t>
            </a:r>
            <a:r>
              <a:rPr dirty="0" sz="1100" spc="245">
                <a:solidFill>
                  <a:srgbClr val="4A4A4A"/>
                </a:solidFill>
              </a:rPr>
              <a:t> </a:t>
            </a:r>
            <a:r>
              <a:rPr dirty="0" sz="1100" spc="-10">
                <a:solidFill>
                  <a:srgbClr val="4A4A4A"/>
                </a:solidFill>
              </a:rPr>
              <a:t>urban </a:t>
            </a:r>
            <a:r>
              <a:rPr dirty="0" sz="1100">
                <a:solidFill>
                  <a:srgbClr val="4A4A4A"/>
                </a:solidFill>
              </a:rPr>
              <a:t>demand</a:t>
            </a:r>
            <a:r>
              <a:rPr dirty="0" sz="1100" spc="315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for</a:t>
            </a:r>
            <a:r>
              <a:rPr dirty="0" sz="1100" spc="245">
                <a:solidFill>
                  <a:srgbClr val="4A4A4A"/>
                </a:solidFill>
              </a:rPr>
              <a:t> </a:t>
            </a:r>
            <a:r>
              <a:rPr dirty="0" sz="1100">
                <a:solidFill>
                  <a:srgbClr val="4A4A4A"/>
                </a:solidFill>
              </a:rPr>
              <a:t>fashion</a:t>
            </a:r>
            <a:r>
              <a:rPr dirty="0" sz="1100" spc="185">
                <a:solidFill>
                  <a:srgbClr val="4A4A4A"/>
                </a:solidFill>
              </a:rPr>
              <a:t> </a:t>
            </a:r>
            <a:r>
              <a:rPr dirty="0" sz="1100" spc="-40">
                <a:solidFill>
                  <a:srgbClr val="4A4A4A"/>
                </a:solidFill>
              </a:rPr>
              <a:t>e-</a:t>
            </a:r>
            <a:r>
              <a:rPr dirty="0" sz="1100" spc="-10">
                <a:solidFill>
                  <a:srgbClr val="4A4A4A"/>
                </a:solidFill>
              </a:rPr>
              <a:t>commerce.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605242" y="4204430"/>
            <a:ext cx="4496435" cy="896619"/>
            <a:chOff x="4605242" y="4204430"/>
            <a:chExt cx="4496435" cy="896619"/>
          </a:xfrm>
        </p:grpSpPr>
        <p:sp>
          <p:nvSpPr>
            <p:cNvPr id="3" name="object 3"/>
            <p:cNvSpPr/>
            <p:nvPr/>
          </p:nvSpPr>
          <p:spPr>
            <a:xfrm>
              <a:off x="4614671" y="4215383"/>
              <a:ext cx="3642360" cy="617220"/>
            </a:xfrm>
            <a:custGeom>
              <a:avLst/>
              <a:gdLst/>
              <a:ahLst/>
              <a:cxnLst/>
              <a:rect l="l" t="t" r="r" b="b"/>
              <a:pathLst>
                <a:path w="3642359" h="617220">
                  <a:moveTo>
                    <a:pt x="3597655" y="0"/>
                  </a:moveTo>
                  <a:lnTo>
                    <a:pt x="3611879" y="9601"/>
                  </a:lnTo>
                  <a:lnTo>
                    <a:pt x="3621404" y="23787"/>
                  </a:lnTo>
                  <a:lnTo>
                    <a:pt x="3624960" y="41147"/>
                  </a:lnTo>
                  <a:lnTo>
                    <a:pt x="3624960" y="555091"/>
                  </a:lnTo>
                  <a:lnTo>
                    <a:pt x="3621404" y="572465"/>
                  </a:lnTo>
                  <a:lnTo>
                    <a:pt x="3611879" y="586651"/>
                  </a:lnTo>
                  <a:lnTo>
                    <a:pt x="3597655" y="596201"/>
                  </a:lnTo>
                  <a:lnTo>
                    <a:pt x="3580383" y="599693"/>
                  </a:lnTo>
                  <a:lnTo>
                    <a:pt x="41148" y="599693"/>
                  </a:lnTo>
                  <a:lnTo>
                    <a:pt x="0" y="572515"/>
                  </a:lnTo>
                  <a:lnTo>
                    <a:pt x="380" y="575614"/>
                  </a:lnTo>
                  <a:lnTo>
                    <a:pt x="22225" y="608012"/>
                  </a:lnTo>
                  <a:lnTo>
                    <a:pt x="51053" y="616711"/>
                  </a:lnTo>
                  <a:lnTo>
                    <a:pt x="3590544" y="616711"/>
                  </a:lnTo>
                  <a:lnTo>
                    <a:pt x="3626611" y="601725"/>
                  </a:lnTo>
                  <a:lnTo>
                    <a:pt x="3641979" y="564959"/>
                  </a:lnTo>
                  <a:lnTo>
                    <a:pt x="3641979" y="50291"/>
                  </a:lnTo>
                  <a:lnTo>
                    <a:pt x="3626357" y="13957"/>
                  </a:lnTo>
                  <a:lnTo>
                    <a:pt x="3600830" y="342"/>
                  </a:lnTo>
                  <a:lnTo>
                    <a:pt x="3601338" y="342"/>
                  </a:lnTo>
                  <a:lnTo>
                    <a:pt x="3597655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611623" y="4210811"/>
              <a:ext cx="3629025" cy="605155"/>
            </a:xfrm>
            <a:custGeom>
              <a:avLst/>
              <a:gdLst/>
              <a:ahLst/>
              <a:cxnLst/>
              <a:rect l="l" t="t" r="r" b="b"/>
              <a:pathLst>
                <a:path w="3629025" h="605154">
                  <a:moveTo>
                    <a:pt x="3584067" y="0"/>
                  </a:moveTo>
                  <a:lnTo>
                    <a:pt x="44703" y="0"/>
                  </a:lnTo>
                  <a:lnTo>
                    <a:pt x="27304" y="3517"/>
                  </a:lnTo>
                  <a:lnTo>
                    <a:pt x="13080" y="13106"/>
                  </a:lnTo>
                  <a:lnTo>
                    <a:pt x="3555" y="27317"/>
                  </a:lnTo>
                  <a:lnTo>
                    <a:pt x="0" y="44742"/>
                  </a:lnTo>
                  <a:lnTo>
                    <a:pt x="0" y="560184"/>
                  </a:lnTo>
                  <a:lnTo>
                    <a:pt x="3555" y="577608"/>
                  </a:lnTo>
                  <a:lnTo>
                    <a:pt x="13080" y="591832"/>
                  </a:lnTo>
                  <a:lnTo>
                    <a:pt x="27304" y="601421"/>
                  </a:lnTo>
                  <a:lnTo>
                    <a:pt x="44703" y="604939"/>
                  </a:lnTo>
                  <a:lnTo>
                    <a:pt x="3584067" y="604939"/>
                  </a:lnTo>
                  <a:lnTo>
                    <a:pt x="3601466" y="601421"/>
                  </a:lnTo>
                  <a:lnTo>
                    <a:pt x="3615562" y="591832"/>
                  </a:lnTo>
                  <a:lnTo>
                    <a:pt x="3625087" y="577608"/>
                  </a:lnTo>
                  <a:lnTo>
                    <a:pt x="3628644" y="560184"/>
                  </a:lnTo>
                  <a:lnTo>
                    <a:pt x="3628644" y="44742"/>
                  </a:lnTo>
                  <a:lnTo>
                    <a:pt x="3625087" y="27317"/>
                  </a:lnTo>
                  <a:lnTo>
                    <a:pt x="3615562" y="13106"/>
                  </a:lnTo>
                  <a:lnTo>
                    <a:pt x="3601466" y="3517"/>
                  </a:lnTo>
                  <a:lnTo>
                    <a:pt x="3584067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612385" y="4211573"/>
              <a:ext cx="3629025" cy="605155"/>
            </a:xfrm>
            <a:custGeom>
              <a:avLst/>
              <a:gdLst/>
              <a:ahLst/>
              <a:cxnLst/>
              <a:rect l="l" t="t" r="r" b="b"/>
              <a:pathLst>
                <a:path w="3629025" h="605154">
                  <a:moveTo>
                    <a:pt x="0" y="44742"/>
                  </a:moveTo>
                  <a:lnTo>
                    <a:pt x="3555" y="27317"/>
                  </a:lnTo>
                  <a:lnTo>
                    <a:pt x="13080" y="13106"/>
                  </a:lnTo>
                  <a:lnTo>
                    <a:pt x="27304" y="3517"/>
                  </a:lnTo>
                  <a:lnTo>
                    <a:pt x="44703" y="0"/>
                  </a:lnTo>
                  <a:lnTo>
                    <a:pt x="3584066" y="0"/>
                  </a:lnTo>
                  <a:lnTo>
                    <a:pt x="3601466" y="3517"/>
                  </a:lnTo>
                  <a:lnTo>
                    <a:pt x="3615563" y="13106"/>
                  </a:lnTo>
                  <a:lnTo>
                    <a:pt x="3625088" y="27317"/>
                  </a:lnTo>
                  <a:lnTo>
                    <a:pt x="3628643" y="44742"/>
                  </a:lnTo>
                  <a:lnTo>
                    <a:pt x="3628643" y="560184"/>
                  </a:lnTo>
                  <a:lnTo>
                    <a:pt x="3625088" y="577608"/>
                  </a:lnTo>
                  <a:lnTo>
                    <a:pt x="3615563" y="591832"/>
                  </a:lnTo>
                  <a:lnTo>
                    <a:pt x="3601466" y="601421"/>
                  </a:lnTo>
                  <a:lnTo>
                    <a:pt x="3584066" y="604939"/>
                  </a:lnTo>
                  <a:lnTo>
                    <a:pt x="44703" y="604939"/>
                  </a:lnTo>
                  <a:lnTo>
                    <a:pt x="27304" y="601421"/>
                  </a:lnTo>
                  <a:lnTo>
                    <a:pt x="13080" y="591832"/>
                  </a:lnTo>
                  <a:lnTo>
                    <a:pt x="3555" y="577608"/>
                  </a:lnTo>
                  <a:lnTo>
                    <a:pt x="0" y="560184"/>
                  </a:lnTo>
                  <a:lnTo>
                    <a:pt x="0" y="44742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544830">
              <a:lnSpc>
                <a:spcPct val="100000"/>
              </a:lnSpc>
              <a:spcBef>
                <a:spcPts val="100"/>
              </a:spcBef>
            </a:pPr>
            <a:r>
              <a:rPr dirty="0" sz="2050" spc="55"/>
              <a:t>Fulfilment,</a:t>
            </a:r>
            <a:r>
              <a:rPr dirty="0" sz="2050" spc="180"/>
              <a:t> </a:t>
            </a:r>
            <a:r>
              <a:rPr dirty="0" sz="2050" spc="50"/>
              <a:t>Shipping</a:t>
            </a:r>
            <a:r>
              <a:rPr dirty="0" sz="2050" spc="180"/>
              <a:t> </a:t>
            </a:r>
            <a:r>
              <a:rPr dirty="0" sz="2050"/>
              <a:t>&amp;</a:t>
            </a:r>
            <a:r>
              <a:rPr dirty="0" sz="2050" spc="135"/>
              <a:t> </a:t>
            </a:r>
            <a:r>
              <a:rPr dirty="0" sz="2050" spc="80"/>
              <a:t>Order</a:t>
            </a:r>
            <a:r>
              <a:rPr dirty="0" sz="2050" spc="175"/>
              <a:t> </a:t>
            </a:r>
            <a:r>
              <a:rPr dirty="0" sz="2050" spc="-10"/>
              <a:t>Status</a:t>
            </a:r>
            <a:endParaRPr sz="2050"/>
          </a:p>
        </p:txBody>
      </p:sp>
      <p:sp>
        <p:nvSpPr>
          <p:cNvPr id="7" name="object 7"/>
          <p:cNvSpPr txBox="1"/>
          <p:nvPr/>
        </p:nvSpPr>
        <p:spPr>
          <a:xfrm>
            <a:off x="891032" y="836422"/>
            <a:ext cx="3437254" cy="549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93939"/>
                </a:solidFill>
                <a:latin typeface="Georgia"/>
                <a:cs typeface="Georgia"/>
              </a:rPr>
              <a:t>Fulfilment</a:t>
            </a:r>
            <a:r>
              <a:rPr dirty="0" sz="1000" spc="200">
                <a:solidFill>
                  <a:srgbClr val="393939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393939"/>
                </a:solidFill>
                <a:latin typeface="Georgia"/>
                <a:cs typeface="Georgia"/>
              </a:rPr>
              <a:t>&amp;</a:t>
            </a:r>
            <a:r>
              <a:rPr dirty="0" sz="1000" spc="210">
                <a:solidFill>
                  <a:srgbClr val="393939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393939"/>
                </a:solidFill>
                <a:latin typeface="Georgia"/>
                <a:cs typeface="Georgia"/>
              </a:rPr>
              <a:t>Shipping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Amazon</a:t>
            </a:r>
            <a:r>
              <a:rPr dirty="0" sz="800" spc="1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Fulfilled</a:t>
            </a:r>
            <a:r>
              <a:rPr dirty="0" sz="800" spc="1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and</a:t>
            </a:r>
            <a:r>
              <a:rPr dirty="0" sz="800" spc="1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Expedited</a:t>
            </a:r>
            <a:r>
              <a:rPr dirty="0" sz="800" spc="1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800" spc="1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command</a:t>
            </a:r>
            <a:r>
              <a:rPr dirty="0" sz="800" spc="1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higher</a:t>
            </a:r>
            <a:r>
              <a:rPr dirty="0" sz="800" spc="1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r>
              <a:rPr dirty="0" sz="800" spc="2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share</a:t>
            </a:r>
            <a:endParaRPr sz="8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—</a:t>
            </a:r>
            <a:r>
              <a:rPr dirty="0" sz="800" spc="2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indicating</a:t>
            </a:r>
            <a:r>
              <a:rPr dirty="0" sz="800" spc="5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larger</a:t>
            </a:r>
            <a:r>
              <a:rPr dirty="0" sz="800" spc="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basket</a:t>
            </a:r>
            <a:r>
              <a:rPr dirty="0" sz="800" spc="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sizes</a:t>
            </a:r>
            <a:r>
              <a:rPr dirty="0" sz="8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and</a:t>
            </a:r>
            <a:r>
              <a:rPr dirty="0" sz="800" spc="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customer</a:t>
            </a:r>
            <a:r>
              <a:rPr dirty="0" sz="800" spc="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preference</a:t>
            </a:r>
            <a:r>
              <a:rPr dirty="0" sz="800" spc="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10">
                <a:solidFill>
                  <a:srgbClr val="4A4A4A"/>
                </a:solidFill>
                <a:latin typeface="Georgia"/>
                <a:cs typeface="Georgia"/>
              </a:rPr>
              <a:t>for</a:t>
            </a:r>
            <a:r>
              <a:rPr dirty="0" sz="8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speed.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4682" y="836422"/>
            <a:ext cx="151384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393939"/>
                </a:solidFill>
                <a:latin typeface="Georgia"/>
                <a:cs typeface="Georgia"/>
              </a:rPr>
              <a:t>Order</a:t>
            </a:r>
            <a:r>
              <a:rPr dirty="0" sz="1000" spc="195">
                <a:solidFill>
                  <a:srgbClr val="393939"/>
                </a:solidFill>
                <a:latin typeface="Georgia"/>
                <a:cs typeface="Georgia"/>
              </a:rPr>
              <a:t> </a:t>
            </a:r>
            <a:r>
              <a:rPr dirty="0" sz="1000">
                <a:solidFill>
                  <a:srgbClr val="393939"/>
                </a:solidFill>
                <a:latin typeface="Georgia"/>
                <a:cs typeface="Georgia"/>
              </a:rPr>
              <a:t>Status</a:t>
            </a:r>
            <a:r>
              <a:rPr dirty="0" sz="1000" spc="175">
                <a:solidFill>
                  <a:srgbClr val="393939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393939"/>
                </a:solidFill>
                <a:latin typeface="Georgia"/>
                <a:cs typeface="Georgia"/>
              </a:rPr>
              <a:t>Breakdown</a:t>
            </a:r>
            <a:endParaRPr sz="1000">
              <a:latin typeface="Georgia"/>
              <a:cs typeface="Georgia"/>
            </a:endParaRPr>
          </a:p>
        </p:txBody>
      </p:sp>
      <p:pic>
        <p:nvPicPr>
          <p:cNvPr id="9" name="object 9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06111" y="1115567"/>
            <a:ext cx="3538728" cy="2546604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897350" y="4204430"/>
            <a:ext cx="3651885" cy="628015"/>
            <a:chOff x="897350" y="4204430"/>
            <a:chExt cx="3651885" cy="628015"/>
          </a:xfrm>
        </p:grpSpPr>
        <p:sp>
          <p:nvSpPr>
            <p:cNvPr id="11" name="object 11"/>
            <p:cNvSpPr/>
            <p:nvPr/>
          </p:nvSpPr>
          <p:spPr>
            <a:xfrm>
              <a:off x="906780" y="4215383"/>
              <a:ext cx="3642360" cy="617220"/>
            </a:xfrm>
            <a:custGeom>
              <a:avLst/>
              <a:gdLst/>
              <a:ahLst/>
              <a:cxnLst/>
              <a:rect l="l" t="t" r="r" b="b"/>
              <a:pathLst>
                <a:path w="3642360" h="617220">
                  <a:moveTo>
                    <a:pt x="3597655" y="0"/>
                  </a:moveTo>
                  <a:lnTo>
                    <a:pt x="3611753" y="9613"/>
                  </a:lnTo>
                  <a:lnTo>
                    <a:pt x="3621404" y="23799"/>
                  </a:lnTo>
                  <a:lnTo>
                    <a:pt x="3624833" y="41160"/>
                  </a:lnTo>
                  <a:lnTo>
                    <a:pt x="3624833" y="555104"/>
                  </a:lnTo>
                  <a:lnTo>
                    <a:pt x="3621404" y="572477"/>
                  </a:lnTo>
                  <a:lnTo>
                    <a:pt x="3611753" y="586651"/>
                  </a:lnTo>
                  <a:lnTo>
                    <a:pt x="3597655" y="596214"/>
                  </a:lnTo>
                  <a:lnTo>
                    <a:pt x="3580129" y="599719"/>
                  </a:lnTo>
                  <a:lnTo>
                    <a:pt x="41173" y="599719"/>
                  </a:lnTo>
                  <a:lnTo>
                    <a:pt x="0" y="572528"/>
                  </a:lnTo>
                  <a:lnTo>
                    <a:pt x="190" y="574674"/>
                  </a:lnTo>
                  <a:lnTo>
                    <a:pt x="21894" y="607771"/>
                  </a:lnTo>
                  <a:lnTo>
                    <a:pt x="39941" y="615492"/>
                  </a:lnTo>
                  <a:lnTo>
                    <a:pt x="39750" y="615492"/>
                  </a:lnTo>
                  <a:lnTo>
                    <a:pt x="51053" y="616724"/>
                  </a:lnTo>
                  <a:lnTo>
                    <a:pt x="3590417" y="616724"/>
                  </a:lnTo>
                  <a:lnTo>
                    <a:pt x="3601466" y="615492"/>
                  </a:lnTo>
                  <a:lnTo>
                    <a:pt x="3601211" y="615492"/>
                  </a:lnTo>
                  <a:lnTo>
                    <a:pt x="3610864" y="612343"/>
                  </a:lnTo>
                  <a:lnTo>
                    <a:pt x="3637915" y="584911"/>
                  </a:lnTo>
                  <a:lnTo>
                    <a:pt x="3641852" y="564972"/>
                  </a:lnTo>
                  <a:lnTo>
                    <a:pt x="3641852" y="50304"/>
                  </a:lnTo>
                  <a:lnTo>
                    <a:pt x="3626230" y="13969"/>
                  </a:lnTo>
                  <a:lnTo>
                    <a:pt x="3600704" y="355"/>
                  </a:lnTo>
                  <a:lnTo>
                    <a:pt x="3601339" y="355"/>
                  </a:lnTo>
                  <a:lnTo>
                    <a:pt x="3597655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903732" y="4210811"/>
              <a:ext cx="3629025" cy="605155"/>
            </a:xfrm>
            <a:custGeom>
              <a:avLst/>
              <a:gdLst/>
              <a:ahLst/>
              <a:cxnLst/>
              <a:rect l="l" t="t" r="r" b="b"/>
              <a:pathLst>
                <a:path w="3629025" h="605154">
                  <a:moveTo>
                    <a:pt x="3583940" y="0"/>
                  </a:moveTo>
                  <a:lnTo>
                    <a:pt x="44653" y="0"/>
                  </a:lnTo>
                  <a:lnTo>
                    <a:pt x="27266" y="3517"/>
                  </a:lnTo>
                  <a:lnTo>
                    <a:pt x="13081" y="13106"/>
                  </a:lnTo>
                  <a:lnTo>
                    <a:pt x="3505" y="27317"/>
                  </a:lnTo>
                  <a:lnTo>
                    <a:pt x="0" y="44742"/>
                  </a:lnTo>
                  <a:lnTo>
                    <a:pt x="0" y="560184"/>
                  </a:lnTo>
                  <a:lnTo>
                    <a:pt x="3505" y="577608"/>
                  </a:lnTo>
                  <a:lnTo>
                    <a:pt x="13081" y="591832"/>
                  </a:lnTo>
                  <a:lnTo>
                    <a:pt x="27266" y="601421"/>
                  </a:lnTo>
                  <a:lnTo>
                    <a:pt x="44653" y="604939"/>
                  </a:lnTo>
                  <a:lnTo>
                    <a:pt x="3583940" y="604939"/>
                  </a:lnTo>
                  <a:lnTo>
                    <a:pt x="3601339" y="601421"/>
                  </a:lnTo>
                  <a:lnTo>
                    <a:pt x="3615563" y="591832"/>
                  </a:lnTo>
                  <a:lnTo>
                    <a:pt x="3625088" y="577608"/>
                  </a:lnTo>
                  <a:lnTo>
                    <a:pt x="3628644" y="560184"/>
                  </a:lnTo>
                  <a:lnTo>
                    <a:pt x="3628644" y="44742"/>
                  </a:lnTo>
                  <a:lnTo>
                    <a:pt x="3625088" y="27317"/>
                  </a:lnTo>
                  <a:lnTo>
                    <a:pt x="3615563" y="13106"/>
                  </a:lnTo>
                  <a:lnTo>
                    <a:pt x="3601339" y="3517"/>
                  </a:lnTo>
                  <a:lnTo>
                    <a:pt x="3583940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904494" y="4211573"/>
              <a:ext cx="3629025" cy="605155"/>
            </a:xfrm>
            <a:custGeom>
              <a:avLst/>
              <a:gdLst/>
              <a:ahLst/>
              <a:cxnLst/>
              <a:rect l="l" t="t" r="r" b="b"/>
              <a:pathLst>
                <a:path w="3629025" h="605154">
                  <a:moveTo>
                    <a:pt x="0" y="44742"/>
                  </a:moveTo>
                  <a:lnTo>
                    <a:pt x="3505" y="27317"/>
                  </a:lnTo>
                  <a:lnTo>
                    <a:pt x="13081" y="13106"/>
                  </a:lnTo>
                  <a:lnTo>
                    <a:pt x="27266" y="3517"/>
                  </a:lnTo>
                  <a:lnTo>
                    <a:pt x="44653" y="0"/>
                  </a:lnTo>
                  <a:lnTo>
                    <a:pt x="3583940" y="0"/>
                  </a:lnTo>
                  <a:lnTo>
                    <a:pt x="3601339" y="3517"/>
                  </a:lnTo>
                  <a:lnTo>
                    <a:pt x="3615563" y="13106"/>
                  </a:lnTo>
                  <a:lnTo>
                    <a:pt x="3625088" y="27317"/>
                  </a:lnTo>
                  <a:lnTo>
                    <a:pt x="3628644" y="44742"/>
                  </a:lnTo>
                  <a:lnTo>
                    <a:pt x="3628644" y="560184"/>
                  </a:lnTo>
                  <a:lnTo>
                    <a:pt x="3625088" y="577608"/>
                  </a:lnTo>
                  <a:lnTo>
                    <a:pt x="3615563" y="591832"/>
                  </a:lnTo>
                  <a:lnTo>
                    <a:pt x="3601339" y="601421"/>
                  </a:lnTo>
                  <a:lnTo>
                    <a:pt x="3583940" y="604939"/>
                  </a:lnTo>
                  <a:lnTo>
                    <a:pt x="44653" y="604939"/>
                  </a:lnTo>
                  <a:lnTo>
                    <a:pt x="27266" y="601421"/>
                  </a:lnTo>
                  <a:lnTo>
                    <a:pt x="13081" y="591832"/>
                  </a:lnTo>
                  <a:lnTo>
                    <a:pt x="3505" y="577608"/>
                  </a:lnTo>
                  <a:lnTo>
                    <a:pt x="0" y="560184"/>
                  </a:lnTo>
                  <a:lnTo>
                    <a:pt x="0" y="44742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011427" y="4310278"/>
            <a:ext cx="1418590" cy="376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Amazon</a:t>
            </a:r>
            <a:r>
              <a:rPr dirty="0" sz="1000" spc="31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Fulfilled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65.1%</a:t>
            </a:r>
            <a:r>
              <a:rPr dirty="0" sz="800" spc="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800" spc="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800" spc="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69.3%</a:t>
            </a:r>
            <a:r>
              <a:rPr dirty="0" sz="800" spc="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4682" y="3710381"/>
            <a:ext cx="3140075" cy="312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500"/>
              </a:lnSpc>
              <a:spcBef>
                <a:spcPts val="100"/>
              </a:spcBef>
            </a:pP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Cancellation</a:t>
            </a:r>
            <a:r>
              <a:rPr dirty="0" sz="800" spc="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rate</a:t>
            </a:r>
            <a:r>
              <a:rPr dirty="0" sz="800" spc="1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of</a:t>
            </a:r>
            <a:r>
              <a:rPr dirty="0" sz="800" spc="1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20" b="1">
                <a:solidFill>
                  <a:srgbClr val="4A4A4A"/>
                </a:solidFill>
                <a:latin typeface="Georgia"/>
                <a:cs typeface="Georgia"/>
              </a:rPr>
              <a:t>13.32%</a:t>
            </a:r>
            <a:r>
              <a:rPr dirty="0" sz="800" spc="60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exceeds</a:t>
            </a:r>
            <a:r>
              <a:rPr dirty="0" sz="8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the</a:t>
            </a:r>
            <a:r>
              <a:rPr dirty="0" sz="8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75">
                <a:solidFill>
                  <a:srgbClr val="4A4A4A"/>
                </a:solidFill>
                <a:latin typeface="Georgia"/>
                <a:cs typeface="Georgia"/>
              </a:rPr>
              <a:t>5–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8%</a:t>
            </a:r>
            <a:r>
              <a:rPr dirty="0" sz="8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fashion</a:t>
            </a:r>
            <a:r>
              <a:rPr dirty="0" sz="800" spc="11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25">
                <a:solidFill>
                  <a:srgbClr val="4A4A4A"/>
                </a:solidFill>
                <a:latin typeface="Georgia"/>
                <a:cs typeface="Georgia"/>
              </a:rPr>
              <a:t>e-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commerce</a:t>
            </a:r>
            <a:r>
              <a:rPr dirty="0" sz="800" spc="5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benchmark.</a:t>
            </a:r>
            <a:endParaRPr sz="80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20590" y="4329785"/>
            <a:ext cx="1418590" cy="375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4A4A4A"/>
                </a:solidFill>
                <a:latin typeface="Georgia"/>
                <a:cs typeface="Georgia"/>
              </a:rPr>
              <a:t>Expedited</a:t>
            </a:r>
            <a:r>
              <a:rPr dirty="0" sz="1000" spc="31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000" spc="-10">
                <a:solidFill>
                  <a:srgbClr val="4A4A4A"/>
                </a:solidFill>
                <a:latin typeface="Georgia"/>
                <a:cs typeface="Georgia"/>
              </a:rPr>
              <a:t>Shipping</a:t>
            </a:r>
            <a:endParaRPr sz="10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68.9%</a:t>
            </a:r>
            <a:r>
              <a:rPr dirty="0" sz="800" spc="1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800" spc="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·</a:t>
            </a:r>
            <a:r>
              <a:rPr dirty="0" sz="800" spc="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>
                <a:solidFill>
                  <a:srgbClr val="4A4A4A"/>
                </a:solidFill>
                <a:latin typeface="Georgia"/>
                <a:cs typeface="Georgia"/>
              </a:rPr>
              <a:t>69.2%</a:t>
            </a:r>
            <a:r>
              <a:rPr dirty="0" sz="800" spc="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800" spc="-1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endParaRPr sz="8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preencoded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428999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474085">
              <a:lnSpc>
                <a:spcPct val="100000"/>
              </a:lnSpc>
              <a:spcBef>
                <a:spcPts val="105"/>
              </a:spcBef>
            </a:pPr>
            <a:r>
              <a:rPr dirty="0" sz="2250" spc="100"/>
              <a:t>Power</a:t>
            </a:r>
            <a:r>
              <a:rPr dirty="0" sz="2250" spc="165"/>
              <a:t> </a:t>
            </a:r>
            <a:r>
              <a:rPr dirty="0" sz="2250"/>
              <a:t>BI</a:t>
            </a:r>
            <a:r>
              <a:rPr dirty="0" sz="2250" spc="15"/>
              <a:t> </a:t>
            </a:r>
            <a:r>
              <a:rPr dirty="0" sz="2250" spc="65"/>
              <a:t>Dashboard</a:t>
            </a:r>
            <a:endParaRPr sz="2250"/>
          </a:p>
        </p:txBody>
      </p:sp>
      <p:sp>
        <p:nvSpPr>
          <p:cNvPr id="4" name="object 4"/>
          <p:cNvSpPr txBox="1"/>
          <p:nvPr/>
        </p:nvSpPr>
        <p:spPr>
          <a:xfrm>
            <a:off x="3820159" y="791971"/>
            <a:ext cx="4159885" cy="3486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800"/>
              </a:lnSpc>
              <a:spcBef>
                <a:spcPts val="100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An</a:t>
            </a:r>
            <a:r>
              <a:rPr dirty="0" sz="900" spc="1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interactive</a:t>
            </a:r>
            <a:r>
              <a:rPr dirty="0" sz="900" spc="1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dashboard</a:t>
            </a:r>
            <a:r>
              <a:rPr dirty="0" sz="900" spc="1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built</a:t>
            </a:r>
            <a:r>
              <a:rPr dirty="0" sz="900" spc="1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to</a:t>
            </a:r>
            <a:r>
              <a:rPr dirty="0" sz="900" spc="1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communicate</a:t>
            </a:r>
            <a:r>
              <a:rPr dirty="0" sz="900" spc="1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SQL</a:t>
            </a:r>
            <a:r>
              <a:rPr dirty="0" sz="9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findings</a:t>
            </a:r>
            <a:r>
              <a:rPr dirty="0" sz="900" spc="1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to</a:t>
            </a:r>
            <a:r>
              <a:rPr dirty="0" sz="900" spc="1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non-technical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stakeholders</a:t>
            </a:r>
            <a:r>
              <a:rPr dirty="0" sz="900" spc="229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through</a:t>
            </a:r>
            <a:r>
              <a:rPr dirty="0" sz="900" spc="25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dynamic</a:t>
            </a:r>
            <a:r>
              <a:rPr dirty="0" sz="900" spc="2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filters</a:t>
            </a:r>
            <a:r>
              <a:rPr dirty="0" sz="900" spc="2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and</a:t>
            </a:r>
            <a:r>
              <a:rPr dirty="0" sz="900" spc="2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drill-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downs.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8955" y="1264919"/>
            <a:ext cx="216408" cy="22097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20159" y="1582674"/>
            <a:ext cx="3096260" cy="4203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KPI</a:t>
            </a:r>
            <a:r>
              <a:rPr dirty="0" sz="1100" spc="-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Cards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Total</a:t>
            </a:r>
            <a:r>
              <a:rPr dirty="0" sz="9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Orders,</a:t>
            </a:r>
            <a:r>
              <a:rPr dirty="0" sz="900" spc="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Revenue,</a:t>
            </a:r>
            <a:r>
              <a:rPr dirty="0" sz="9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AOV,</a:t>
            </a:r>
            <a:r>
              <a:rPr dirty="0" sz="900" spc="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Cancellation</a:t>
            </a:r>
            <a:r>
              <a:rPr dirty="0" sz="9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Rate</a:t>
            </a:r>
            <a:r>
              <a:rPr dirty="0" sz="9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at</a:t>
            </a:r>
            <a:r>
              <a:rPr dirty="0" sz="9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</a:t>
            </a:r>
            <a:r>
              <a:rPr dirty="0" sz="900" spc="1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glance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75532" y="2202179"/>
            <a:ext cx="143255" cy="22098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20159" y="2520188"/>
            <a:ext cx="2859405" cy="42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Map</a:t>
            </a:r>
            <a:r>
              <a:rPr dirty="0" sz="11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Visual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Geographic</a:t>
            </a:r>
            <a:r>
              <a:rPr dirty="0" sz="900" spc="2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r>
              <a:rPr dirty="0" sz="900" spc="3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distribution</a:t>
            </a:r>
            <a:r>
              <a:rPr dirty="0" sz="900" spc="1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across</a:t>
            </a:r>
            <a:r>
              <a:rPr dirty="0" sz="900" spc="1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Indian</a:t>
            </a:r>
            <a:r>
              <a:rPr dirty="0" sz="900" spc="229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states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7432" y="3150107"/>
            <a:ext cx="219456" cy="19964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820159" y="3457778"/>
            <a:ext cx="3600450" cy="421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Slicers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Dynamic</a:t>
            </a:r>
            <a:r>
              <a:rPr dirty="0" sz="9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filtering</a:t>
            </a:r>
            <a:r>
              <a:rPr dirty="0" sz="9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by</a:t>
            </a:r>
            <a:r>
              <a:rPr dirty="0" sz="900" spc="1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Month,</a:t>
            </a:r>
            <a:r>
              <a:rPr dirty="0" sz="900" spc="16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Category,</a:t>
            </a:r>
            <a:r>
              <a:rPr dirty="0" sz="900" spc="1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State,</a:t>
            </a:r>
            <a:r>
              <a:rPr dirty="0" sz="900" spc="1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Fulfilment</a:t>
            </a:r>
            <a:r>
              <a:rPr dirty="0" sz="90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&amp;</a:t>
            </a:r>
            <a:r>
              <a:rPr dirty="0" sz="9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Shipping</a:t>
            </a:r>
            <a:endParaRPr sz="900">
              <a:latin typeface="Georgia"/>
              <a:cs typeface="Georgia"/>
            </a:endParaRPr>
          </a:p>
        </p:txBody>
      </p: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37432" y="4094988"/>
            <a:ext cx="214884" cy="1905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820159" y="4395927"/>
            <a:ext cx="3248660" cy="4203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Trend</a:t>
            </a:r>
            <a:r>
              <a:rPr dirty="0" sz="1100" spc="25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Charts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Month-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over-month</a:t>
            </a:r>
            <a:r>
              <a:rPr dirty="0" sz="900" spc="2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r>
              <a:rPr dirty="0" sz="900" spc="3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trend</a:t>
            </a:r>
            <a:r>
              <a:rPr dirty="0" sz="900" spc="1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and</a:t>
            </a:r>
            <a:r>
              <a:rPr dirty="0" sz="900" spc="1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category</a:t>
            </a:r>
            <a:r>
              <a:rPr dirty="0" sz="900" spc="2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performance</a:t>
            </a:r>
            <a:endParaRPr sz="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4826" y="4096226"/>
            <a:ext cx="8587105" cy="1005205"/>
            <a:chOff x="514826" y="4096226"/>
            <a:chExt cx="8587105" cy="1005205"/>
          </a:xfrm>
        </p:grpSpPr>
        <p:sp>
          <p:nvSpPr>
            <p:cNvPr id="3" name="object 3"/>
            <p:cNvSpPr/>
            <p:nvPr/>
          </p:nvSpPr>
          <p:spPr>
            <a:xfrm>
              <a:off x="525779" y="4108704"/>
              <a:ext cx="8114030" cy="716280"/>
            </a:xfrm>
            <a:custGeom>
              <a:avLst/>
              <a:gdLst/>
              <a:ahLst/>
              <a:cxnLst/>
              <a:rect l="l" t="t" r="r" b="b"/>
              <a:pathLst>
                <a:path w="8114030" h="716279">
                  <a:moveTo>
                    <a:pt x="8068945" y="0"/>
                  </a:moveTo>
                  <a:lnTo>
                    <a:pt x="8067167" y="0"/>
                  </a:lnTo>
                  <a:lnTo>
                    <a:pt x="8081391" y="9613"/>
                  </a:lnTo>
                  <a:lnTo>
                    <a:pt x="8091932" y="25247"/>
                  </a:lnTo>
                  <a:lnTo>
                    <a:pt x="8095869" y="44411"/>
                  </a:lnTo>
                  <a:lnTo>
                    <a:pt x="8095869" y="649122"/>
                  </a:lnTo>
                  <a:lnTo>
                    <a:pt x="8091932" y="668299"/>
                  </a:lnTo>
                  <a:lnTo>
                    <a:pt x="8081391" y="683933"/>
                  </a:lnTo>
                  <a:lnTo>
                    <a:pt x="8065770" y="694474"/>
                  </a:lnTo>
                  <a:lnTo>
                    <a:pt x="8046593" y="698347"/>
                  </a:lnTo>
                  <a:lnTo>
                    <a:pt x="44767" y="698347"/>
                  </a:lnTo>
                  <a:lnTo>
                    <a:pt x="0" y="669290"/>
                  </a:lnTo>
                  <a:lnTo>
                    <a:pt x="126" y="670509"/>
                  </a:lnTo>
                  <a:lnTo>
                    <a:pt x="23774" y="706488"/>
                  </a:lnTo>
                  <a:lnTo>
                    <a:pt x="43484" y="714908"/>
                  </a:lnTo>
                  <a:lnTo>
                    <a:pt x="43294" y="714908"/>
                  </a:lnTo>
                  <a:lnTo>
                    <a:pt x="55537" y="716241"/>
                  </a:lnTo>
                  <a:lnTo>
                    <a:pt x="8057642" y="716241"/>
                  </a:lnTo>
                  <a:lnTo>
                    <a:pt x="8097774" y="699223"/>
                  </a:lnTo>
                  <a:lnTo>
                    <a:pt x="8113776" y="659879"/>
                  </a:lnTo>
                  <a:lnTo>
                    <a:pt x="8113776" y="54444"/>
                  </a:lnTo>
                  <a:lnTo>
                    <a:pt x="8096758" y="14859"/>
                  </a:lnTo>
                  <a:lnTo>
                    <a:pt x="8078597" y="2997"/>
                  </a:lnTo>
                  <a:lnTo>
                    <a:pt x="8068945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21207" y="4102608"/>
              <a:ext cx="8101965" cy="705485"/>
            </a:xfrm>
            <a:custGeom>
              <a:avLst/>
              <a:gdLst/>
              <a:ahLst/>
              <a:cxnLst/>
              <a:rect l="l" t="t" r="r" b="b"/>
              <a:pathLst>
                <a:path w="8101965" h="705485">
                  <a:moveTo>
                    <a:pt x="8052308" y="0"/>
                  </a:moveTo>
                  <a:lnTo>
                    <a:pt x="49314" y="0"/>
                  </a:lnTo>
                  <a:lnTo>
                    <a:pt x="30124" y="3873"/>
                  </a:lnTo>
                  <a:lnTo>
                    <a:pt x="14452" y="14452"/>
                  </a:lnTo>
                  <a:lnTo>
                    <a:pt x="3873" y="30137"/>
                  </a:lnTo>
                  <a:lnTo>
                    <a:pt x="0" y="49352"/>
                  </a:lnTo>
                  <a:lnTo>
                    <a:pt x="0" y="655802"/>
                  </a:lnTo>
                  <a:lnTo>
                    <a:pt x="3873" y="675004"/>
                  </a:lnTo>
                  <a:lnTo>
                    <a:pt x="14452" y="690702"/>
                  </a:lnTo>
                  <a:lnTo>
                    <a:pt x="30124" y="701281"/>
                  </a:lnTo>
                  <a:lnTo>
                    <a:pt x="49314" y="705154"/>
                  </a:lnTo>
                  <a:lnTo>
                    <a:pt x="8052308" y="705154"/>
                  </a:lnTo>
                  <a:lnTo>
                    <a:pt x="8071358" y="701281"/>
                  </a:lnTo>
                  <a:lnTo>
                    <a:pt x="8087106" y="690702"/>
                  </a:lnTo>
                  <a:lnTo>
                    <a:pt x="8097647" y="675004"/>
                  </a:lnTo>
                  <a:lnTo>
                    <a:pt x="8101584" y="655802"/>
                  </a:lnTo>
                  <a:lnTo>
                    <a:pt x="8101584" y="49352"/>
                  </a:lnTo>
                  <a:lnTo>
                    <a:pt x="8097647" y="30137"/>
                  </a:lnTo>
                  <a:lnTo>
                    <a:pt x="8087106" y="14452"/>
                  </a:lnTo>
                  <a:lnTo>
                    <a:pt x="8071358" y="3873"/>
                  </a:lnTo>
                  <a:lnTo>
                    <a:pt x="8052308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21969" y="4103370"/>
              <a:ext cx="8101965" cy="705485"/>
            </a:xfrm>
            <a:custGeom>
              <a:avLst/>
              <a:gdLst/>
              <a:ahLst/>
              <a:cxnLst/>
              <a:rect l="l" t="t" r="r" b="b"/>
              <a:pathLst>
                <a:path w="8101965" h="705485">
                  <a:moveTo>
                    <a:pt x="0" y="49352"/>
                  </a:moveTo>
                  <a:lnTo>
                    <a:pt x="3873" y="30137"/>
                  </a:lnTo>
                  <a:lnTo>
                    <a:pt x="14452" y="14452"/>
                  </a:lnTo>
                  <a:lnTo>
                    <a:pt x="30124" y="3873"/>
                  </a:lnTo>
                  <a:lnTo>
                    <a:pt x="49314" y="0"/>
                  </a:lnTo>
                  <a:lnTo>
                    <a:pt x="8052308" y="0"/>
                  </a:lnTo>
                  <a:lnTo>
                    <a:pt x="8071358" y="3873"/>
                  </a:lnTo>
                  <a:lnTo>
                    <a:pt x="8087106" y="14452"/>
                  </a:lnTo>
                  <a:lnTo>
                    <a:pt x="8097647" y="30137"/>
                  </a:lnTo>
                  <a:lnTo>
                    <a:pt x="8101583" y="49352"/>
                  </a:lnTo>
                  <a:lnTo>
                    <a:pt x="8101583" y="655802"/>
                  </a:lnTo>
                  <a:lnTo>
                    <a:pt x="8097647" y="675004"/>
                  </a:lnTo>
                  <a:lnTo>
                    <a:pt x="8087106" y="690702"/>
                  </a:lnTo>
                  <a:lnTo>
                    <a:pt x="8071358" y="701281"/>
                  </a:lnTo>
                  <a:lnTo>
                    <a:pt x="8052308" y="705154"/>
                  </a:lnTo>
                  <a:lnTo>
                    <a:pt x="49314" y="705154"/>
                  </a:lnTo>
                  <a:lnTo>
                    <a:pt x="30124" y="701281"/>
                  </a:lnTo>
                  <a:lnTo>
                    <a:pt x="14452" y="690702"/>
                  </a:lnTo>
                  <a:lnTo>
                    <a:pt x="3873" y="675004"/>
                  </a:lnTo>
                  <a:lnTo>
                    <a:pt x="0" y="655802"/>
                  </a:lnTo>
                  <a:lnTo>
                    <a:pt x="0" y="49352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591" y="4126992"/>
              <a:ext cx="469392" cy="675132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36447" y="4117848"/>
              <a:ext cx="469265" cy="676275"/>
            </a:xfrm>
            <a:custGeom>
              <a:avLst/>
              <a:gdLst/>
              <a:ahLst/>
              <a:cxnLst/>
              <a:rect l="l" t="t" r="r" b="b"/>
              <a:pathLst>
                <a:path w="469265" h="676275">
                  <a:moveTo>
                    <a:pt x="436918" y="0"/>
                  </a:moveTo>
                  <a:lnTo>
                    <a:pt x="32131" y="0"/>
                  </a:lnTo>
                  <a:lnTo>
                    <a:pt x="19621" y="2527"/>
                  </a:lnTo>
                  <a:lnTo>
                    <a:pt x="9410" y="9423"/>
                  </a:lnTo>
                  <a:lnTo>
                    <a:pt x="2527" y="19646"/>
                  </a:lnTo>
                  <a:lnTo>
                    <a:pt x="0" y="32169"/>
                  </a:lnTo>
                  <a:lnTo>
                    <a:pt x="0" y="644029"/>
                  </a:lnTo>
                  <a:lnTo>
                    <a:pt x="2527" y="656551"/>
                  </a:lnTo>
                  <a:lnTo>
                    <a:pt x="9410" y="666788"/>
                  </a:lnTo>
                  <a:lnTo>
                    <a:pt x="19621" y="673684"/>
                  </a:lnTo>
                  <a:lnTo>
                    <a:pt x="32131" y="676211"/>
                  </a:lnTo>
                  <a:lnTo>
                    <a:pt x="436918" y="676211"/>
                  </a:lnTo>
                  <a:lnTo>
                    <a:pt x="449427" y="673684"/>
                  </a:lnTo>
                  <a:lnTo>
                    <a:pt x="459638" y="666788"/>
                  </a:lnTo>
                  <a:lnTo>
                    <a:pt x="466521" y="656551"/>
                  </a:lnTo>
                  <a:lnTo>
                    <a:pt x="469049" y="644029"/>
                  </a:lnTo>
                  <a:lnTo>
                    <a:pt x="469049" y="32169"/>
                  </a:lnTo>
                  <a:lnTo>
                    <a:pt x="466521" y="19646"/>
                  </a:lnTo>
                  <a:lnTo>
                    <a:pt x="459638" y="9423"/>
                  </a:lnTo>
                  <a:lnTo>
                    <a:pt x="449427" y="2527"/>
                  </a:lnTo>
                  <a:lnTo>
                    <a:pt x="436918" y="0"/>
                  </a:lnTo>
                  <a:close/>
                </a:path>
              </a:pathLst>
            </a:custGeom>
            <a:solidFill>
              <a:srgbClr val="E6DED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61925">
              <a:lnSpc>
                <a:spcPct val="100000"/>
              </a:lnSpc>
              <a:spcBef>
                <a:spcPts val="105"/>
              </a:spcBef>
            </a:pPr>
            <a:r>
              <a:rPr dirty="0" spc="60"/>
              <a:t>Business</a:t>
            </a:r>
            <a:r>
              <a:rPr dirty="0" spc="180"/>
              <a:t> </a:t>
            </a:r>
            <a:r>
              <a:rPr dirty="0"/>
              <a:t>Insights</a:t>
            </a:r>
            <a:r>
              <a:rPr dirty="0" spc="275"/>
              <a:t> </a:t>
            </a:r>
            <a:r>
              <a:rPr dirty="0"/>
              <a:t>&amp;</a:t>
            </a:r>
            <a:r>
              <a:rPr dirty="0" spc="245"/>
              <a:t> </a:t>
            </a:r>
            <a:r>
              <a:rPr dirty="0" spc="65"/>
              <a:t>Recommendations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514826" y="891254"/>
            <a:ext cx="8124825" cy="728980"/>
            <a:chOff x="514826" y="891254"/>
            <a:chExt cx="8124825" cy="728980"/>
          </a:xfrm>
        </p:grpSpPr>
        <p:sp>
          <p:nvSpPr>
            <p:cNvPr id="10" name="object 10"/>
            <p:cNvSpPr/>
            <p:nvPr/>
          </p:nvSpPr>
          <p:spPr>
            <a:xfrm>
              <a:off x="525779" y="902207"/>
              <a:ext cx="8114030" cy="717550"/>
            </a:xfrm>
            <a:custGeom>
              <a:avLst/>
              <a:gdLst/>
              <a:ahLst/>
              <a:cxnLst/>
              <a:rect l="l" t="t" r="r" b="b"/>
              <a:pathLst>
                <a:path w="8114030" h="717550">
                  <a:moveTo>
                    <a:pt x="8069453" y="0"/>
                  </a:moveTo>
                  <a:lnTo>
                    <a:pt x="8067294" y="0"/>
                  </a:lnTo>
                  <a:lnTo>
                    <a:pt x="8081391" y="9525"/>
                  </a:lnTo>
                  <a:lnTo>
                    <a:pt x="8091932" y="25145"/>
                  </a:lnTo>
                  <a:lnTo>
                    <a:pt x="8095869" y="44322"/>
                  </a:lnTo>
                  <a:lnTo>
                    <a:pt x="8095869" y="650366"/>
                  </a:lnTo>
                  <a:lnTo>
                    <a:pt x="8091932" y="669543"/>
                  </a:lnTo>
                  <a:lnTo>
                    <a:pt x="8081391" y="685291"/>
                  </a:lnTo>
                  <a:lnTo>
                    <a:pt x="8065770" y="695832"/>
                  </a:lnTo>
                  <a:lnTo>
                    <a:pt x="8046593" y="699642"/>
                  </a:lnTo>
                  <a:lnTo>
                    <a:pt x="44767" y="699642"/>
                  </a:lnTo>
                  <a:lnTo>
                    <a:pt x="25565" y="695832"/>
                  </a:lnTo>
                  <a:lnTo>
                    <a:pt x="9893" y="685291"/>
                  </a:lnTo>
                  <a:lnTo>
                    <a:pt x="0" y="670559"/>
                  </a:lnTo>
                  <a:lnTo>
                    <a:pt x="406" y="673226"/>
                  </a:lnTo>
                  <a:lnTo>
                    <a:pt x="24345" y="708278"/>
                  </a:lnTo>
                  <a:lnTo>
                    <a:pt x="55537" y="717550"/>
                  </a:lnTo>
                  <a:lnTo>
                    <a:pt x="8058023" y="717550"/>
                  </a:lnTo>
                  <a:lnTo>
                    <a:pt x="8097774" y="700531"/>
                  </a:lnTo>
                  <a:lnTo>
                    <a:pt x="8113776" y="661162"/>
                  </a:lnTo>
                  <a:lnTo>
                    <a:pt x="8113776" y="54355"/>
                  </a:lnTo>
                  <a:lnTo>
                    <a:pt x="8096758" y="14731"/>
                  </a:lnTo>
                  <a:lnTo>
                    <a:pt x="8089392" y="8762"/>
                  </a:lnTo>
                  <a:lnTo>
                    <a:pt x="8088757" y="8127"/>
                  </a:lnTo>
                  <a:lnTo>
                    <a:pt x="8088249" y="8000"/>
                  </a:lnTo>
                  <a:lnTo>
                    <a:pt x="8079486" y="3175"/>
                  </a:lnTo>
                  <a:lnTo>
                    <a:pt x="8069453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21207" y="897635"/>
              <a:ext cx="8101965" cy="703580"/>
            </a:xfrm>
            <a:custGeom>
              <a:avLst/>
              <a:gdLst/>
              <a:ahLst/>
              <a:cxnLst/>
              <a:rect l="l" t="t" r="r" b="b"/>
              <a:pathLst>
                <a:path w="8101965" h="703580">
                  <a:moveTo>
                    <a:pt x="8052308" y="0"/>
                  </a:moveTo>
                  <a:lnTo>
                    <a:pt x="49314" y="0"/>
                  </a:lnTo>
                  <a:lnTo>
                    <a:pt x="30124" y="3810"/>
                  </a:lnTo>
                  <a:lnTo>
                    <a:pt x="14452" y="14477"/>
                  </a:lnTo>
                  <a:lnTo>
                    <a:pt x="3873" y="30099"/>
                  </a:lnTo>
                  <a:lnTo>
                    <a:pt x="0" y="49275"/>
                  </a:lnTo>
                  <a:lnTo>
                    <a:pt x="0" y="654303"/>
                  </a:lnTo>
                  <a:lnTo>
                    <a:pt x="3873" y="673608"/>
                  </a:lnTo>
                  <a:lnTo>
                    <a:pt x="14452" y="689228"/>
                  </a:lnTo>
                  <a:lnTo>
                    <a:pt x="30124" y="699769"/>
                  </a:lnTo>
                  <a:lnTo>
                    <a:pt x="49314" y="703579"/>
                  </a:lnTo>
                  <a:lnTo>
                    <a:pt x="8052308" y="703579"/>
                  </a:lnTo>
                  <a:lnTo>
                    <a:pt x="8071358" y="699769"/>
                  </a:lnTo>
                  <a:lnTo>
                    <a:pt x="8087106" y="689228"/>
                  </a:lnTo>
                  <a:lnTo>
                    <a:pt x="8097647" y="673608"/>
                  </a:lnTo>
                  <a:lnTo>
                    <a:pt x="8101584" y="654303"/>
                  </a:lnTo>
                  <a:lnTo>
                    <a:pt x="8101584" y="49275"/>
                  </a:lnTo>
                  <a:lnTo>
                    <a:pt x="8097647" y="30099"/>
                  </a:lnTo>
                  <a:lnTo>
                    <a:pt x="8087106" y="14477"/>
                  </a:lnTo>
                  <a:lnTo>
                    <a:pt x="8071358" y="3810"/>
                  </a:lnTo>
                  <a:lnTo>
                    <a:pt x="8052308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21969" y="898397"/>
              <a:ext cx="8101965" cy="703580"/>
            </a:xfrm>
            <a:custGeom>
              <a:avLst/>
              <a:gdLst/>
              <a:ahLst/>
              <a:cxnLst/>
              <a:rect l="l" t="t" r="r" b="b"/>
              <a:pathLst>
                <a:path w="8101965" h="703580">
                  <a:moveTo>
                    <a:pt x="0" y="49275"/>
                  </a:moveTo>
                  <a:lnTo>
                    <a:pt x="3873" y="30099"/>
                  </a:lnTo>
                  <a:lnTo>
                    <a:pt x="14452" y="14477"/>
                  </a:lnTo>
                  <a:lnTo>
                    <a:pt x="30124" y="3810"/>
                  </a:lnTo>
                  <a:lnTo>
                    <a:pt x="49314" y="0"/>
                  </a:lnTo>
                  <a:lnTo>
                    <a:pt x="8052308" y="0"/>
                  </a:lnTo>
                  <a:lnTo>
                    <a:pt x="8071358" y="3810"/>
                  </a:lnTo>
                  <a:lnTo>
                    <a:pt x="8087106" y="14477"/>
                  </a:lnTo>
                  <a:lnTo>
                    <a:pt x="8097647" y="30099"/>
                  </a:lnTo>
                  <a:lnTo>
                    <a:pt x="8101583" y="49275"/>
                  </a:lnTo>
                  <a:lnTo>
                    <a:pt x="8101583" y="654303"/>
                  </a:lnTo>
                  <a:lnTo>
                    <a:pt x="8097647" y="673607"/>
                  </a:lnTo>
                  <a:lnTo>
                    <a:pt x="8087106" y="689228"/>
                  </a:lnTo>
                  <a:lnTo>
                    <a:pt x="8071358" y="699769"/>
                  </a:lnTo>
                  <a:lnTo>
                    <a:pt x="8052308" y="703579"/>
                  </a:lnTo>
                  <a:lnTo>
                    <a:pt x="49314" y="703579"/>
                  </a:lnTo>
                  <a:lnTo>
                    <a:pt x="30124" y="699769"/>
                  </a:lnTo>
                  <a:lnTo>
                    <a:pt x="14452" y="689228"/>
                  </a:lnTo>
                  <a:lnTo>
                    <a:pt x="3873" y="673607"/>
                  </a:lnTo>
                  <a:lnTo>
                    <a:pt x="0" y="654303"/>
                  </a:lnTo>
                  <a:lnTo>
                    <a:pt x="0" y="49275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591" y="920495"/>
              <a:ext cx="469392" cy="67513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36447" y="911351"/>
              <a:ext cx="469265" cy="676275"/>
            </a:xfrm>
            <a:custGeom>
              <a:avLst/>
              <a:gdLst/>
              <a:ahLst/>
              <a:cxnLst/>
              <a:rect l="l" t="t" r="r" b="b"/>
              <a:pathLst>
                <a:path w="469265" h="676275">
                  <a:moveTo>
                    <a:pt x="436918" y="0"/>
                  </a:moveTo>
                  <a:lnTo>
                    <a:pt x="32131" y="0"/>
                  </a:lnTo>
                  <a:lnTo>
                    <a:pt x="19621" y="2539"/>
                  </a:lnTo>
                  <a:lnTo>
                    <a:pt x="9410" y="9525"/>
                  </a:lnTo>
                  <a:lnTo>
                    <a:pt x="2527" y="19685"/>
                  </a:lnTo>
                  <a:lnTo>
                    <a:pt x="0" y="32258"/>
                  </a:lnTo>
                  <a:lnTo>
                    <a:pt x="0" y="644144"/>
                  </a:lnTo>
                  <a:lnTo>
                    <a:pt x="2527" y="656589"/>
                  </a:lnTo>
                  <a:lnTo>
                    <a:pt x="9410" y="666876"/>
                  </a:lnTo>
                  <a:lnTo>
                    <a:pt x="19621" y="673735"/>
                  </a:lnTo>
                  <a:lnTo>
                    <a:pt x="32131" y="676275"/>
                  </a:lnTo>
                  <a:lnTo>
                    <a:pt x="436918" y="676275"/>
                  </a:lnTo>
                  <a:lnTo>
                    <a:pt x="449427" y="673735"/>
                  </a:lnTo>
                  <a:lnTo>
                    <a:pt x="459638" y="666876"/>
                  </a:lnTo>
                  <a:lnTo>
                    <a:pt x="466521" y="656589"/>
                  </a:lnTo>
                  <a:lnTo>
                    <a:pt x="469049" y="644144"/>
                  </a:lnTo>
                  <a:lnTo>
                    <a:pt x="469049" y="32258"/>
                  </a:lnTo>
                  <a:lnTo>
                    <a:pt x="466521" y="19685"/>
                  </a:lnTo>
                  <a:lnTo>
                    <a:pt x="459638" y="9525"/>
                  </a:lnTo>
                  <a:lnTo>
                    <a:pt x="449427" y="2539"/>
                  </a:lnTo>
                  <a:lnTo>
                    <a:pt x="436918" y="0"/>
                  </a:lnTo>
                  <a:close/>
                </a:path>
              </a:pathLst>
            </a:custGeom>
            <a:solidFill>
              <a:srgbClr val="E6DED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20851" y="1116279"/>
            <a:ext cx="86995" cy="2330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latin typeface="Georgia"/>
                <a:cs typeface="Georgia"/>
              </a:rPr>
              <a:t>1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03071" y="1002918"/>
            <a:ext cx="3973195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 spc="45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r>
              <a:rPr dirty="0" sz="1150" spc="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 spc="-10">
                <a:solidFill>
                  <a:srgbClr val="4A4A4A"/>
                </a:solidFill>
                <a:latin typeface="Georgia"/>
                <a:cs typeface="Georgia"/>
              </a:rPr>
              <a:t>Decline</a:t>
            </a:r>
            <a:endParaRPr sz="11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18.8%</a:t>
            </a:r>
            <a:r>
              <a:rPr dirty="0" sz="900" spc="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drop</a:t>
            </a:r>
            <a:r>
              <a:rPr dirty="0" sz="900" spc="1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Apr</a:t>
            </a:r>
            <a:r>
              <a:rPr dirty="0" sz="900">
                <a:solidFill>
                  <a:srgbClr val="4A4A4A"/>
                </a:solidFill>
                <a:latin typeface="Times New Roman"/>
                <a:cs typeface="Times New Roman"/>
              </a:rPr>
              <a:t>→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Jun.</a:t>
            </a:r>
            <a:r>
              <a:rPr dirty="0" sz="9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Run</a:t>
            </a:r>
            <a:r>
              <a:rPr dirty="0" sz="900" spc="1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cohort</a:t>
            </a:r>
            <a:r>
              <a:rPr dirty="0" sz="900" spc="1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analysis</a:t>
            </a:r>
            <a:r>
              <a:rPr dirty="0" sz="9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on</a:t>
            </a:r>
            <a:r>
              <a:rPr dirty="0" sz="9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new</a:t>
            </a:r>
            <a:r>
              <a:rPr dirty="0" sz="900" spc="1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vs</a:t>
            </a:r>
            <a:r>
              <a:rPr dirty="0" sz="9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returning</a:t>
            </a:r>
            <a:r>
              <a:rPr dirty="0" sz="90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customers.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14826" y="1692878"/>
            <a:ext cx="8124825" cy="728980"/>
            <a:chOff x="514826" y="1692878"/>
            <a:chExt cx="8124825" cy="728980"/>
          </a:xfrm>
        </p:grpSpPr>
        <p:sp>
          <p:nvSpPr>
            <p:cNvPr id="18" name="object 18"/>
            <p:cNvSpPr/>
            <p:nvPr/>
          </p:nvSpPr>
          <p:spPr>
            <a:xfrm>
              <a:off x="525779" y="1703832"/>
              <a:ext cx="8114030" cy="717550"/>
            </a:xfrm>
            <a:custGeom>
              <a:avLst/>
              <a:gdLst/>
              <a:ahLst/>
              <a:cxnLst/>
              <a:rect l="l" t="t" r="r" b="b"/>
              <a:pathLst>
                <a:path w="8114030" h="717550">
                  <a:moveTo>
                    <a:pt x="8069453" y="0"/>
                  </a:moveTo>
                  <a:lnTo>
                    <a:pt x="8067421" y="0"/>
                  </a:lnTo>
                  <a:lnTo>
                    <a:pt x="8081391" y="9397"/>
                  </a:lnTo>
                  <a:lnTo>
                    <a:pt x="8091932" y="25145"/>
                  </a:lnTo>
                  <a:lnTo>
                    <a:pt x="8095869" y="44322"/>
                  </a:lnTo>
                  <a:lnTo>
                    <a:pt x="8095869" y="650366"/>
                  </a:lnTo>
                  <a:lnTo>
                    <a:pt x="8091932" y="669543"/>
                  </a:lnTo>
                  <a:lnTo>
                    <a:pt x="8081391" y="685164"/>
                  </a:lnTo>
                  <a:lnTo>
                    <a:pt x="8065770" y="695705"/>
                  </a:lnTo>
                  <a:lnTo>
                    <a:pt x="8046593" y="699642"/>
                  </a:lnTo>
                  <a:lnTo>
                    <a:pt x="44780" y="699642"/>
                  </a:lnTo>
                  <a:lnTo>
                    <a:pt x="25577" y="695705"/>
                  </a:lnTo>
                  <a:lnTo>
                    <a:pt x="9906" y="685164"/>
                  </a:lnTo>
                  <a:lnTo>
                    <a:pt x="0" y="670559"/>
                  </a:lnTo>
                  <a:lnTo>
                    <a:pt x="419" y="673226"/>
                  </a:lnTo>
                  <a:lnTo>
                    <a:pt x="3441" y="682878"/>
                  </a:lnTo>
                  <a:lnTo>
                    <a:pt x="16141" y="701547"/>
                  </a:lnTo>
                  <a:lnTo>
                    <a:pt x="24574" y="708278"/>
                  </a:lnTo>
                  <a:lnTo>
                    <a:pt x="33756" y="713358"/>
                  </a:lnTo>
                  <a:lnTo>
                    <a:pt x="34239" y="713358"/>
                  </a:lnTo>
                  <a:lnTo>
                    <a:pt x="44297" y="716533"/>
                  </a:lnTo>
                  <a:lnTo>
                    <a:pt x="55549" y="717549"/>
                  </a:lnTo>
                  <a:lnTo>
                    <a:pt x="8058023" y="717549"/>
                  </a:lnTo>
                  <a:lnTo>
                    <a:pt x="8096758" y="701547"/>
                  </a:lnTo>
                  <a:lnTo>
                    <a:pt x="8113776" y="661161"/>
                  </a:lnTo>
                  <a:lnTo>
                    <a:pt x="8113776" y="54355"/>
                  </a:lnTo>
                  <a:lnTo>
                    <a:pt x="8097774" y="15620"/>
                  </a:lnTo>
                  <a:lnTo>
                    <a:pt x="8079105" y="2920"/>
                  </a:lnTo>
                  <a:lnTo>
                    <a:pt x="8069453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21207" y="1699260"/>
              <a:ext cx="8101965" cy="703580"/>
            </a:xfrm>
            <a:custGeom>
              <a:avLst/>
              <a:gdLst/>
              <a:ahLst/>
              <a:cxnLst/>
              <a:rect l="l" t="t" r="r" b="b"/>
              <a:pathLst>
                <a:path w="8101965" h="703580">
                  <a:moveTo>
                    <a:pt x="8052308" y="0"/>
                  </a:moveTo>
                  <a:lnTo>
                    <a:pt x="49314" y="0"/>
                  </a:lnTo>
                  <a:lnTo>
                    <a:pt x="30124" y="3810"/>
                  </a:lnTo>
                  <a:lnTo>
                    <a:pt x="14452" y="14350"/>
                  </a:lnTo>
                  <a:lnTo>
                    <a:pt x="3873" y="29972"/>
                  </a:lnTo>
                  <a:lnTo>
                    <a:pt x="0" y="49275"/>
                  </a:lnTo>
                  <a:lnTo>
                    <a:pt x="0" y="654303"/>
                  </a:lnTo>
                  <a:lnTo>
                    <a:pt x="3873" y="673481"/>
                  </a:lnTo>
                  <a:lnTo>
                    <a:pt x="14452" y="689101"/>
                  </a:lnTo>
                  <a:lnTo>
                    <a:pt x="30124" y="699642"/>
                  </a:lnTo>
                  <a:lnTo>
                    <a:pt x="49314" y="703579"/>
                  </a:lnTo>
                  <a:lnTo>
                    <a:pt x="8052308" y="703579"/>
                  </a:lnTo>
                  <a:lnTo>
                    <a:pt x="8071358" y="699642"/>
                  </a:lnTo>
                  <a:lnTo>
                    <a:pt x="8087106" y="689101"/>
                  </a:lnTo>
                  <a:lnTo>
                    <a:pt x="8097647" y="673481"/>
                  </a:lnTo>
                  <a:lnTo>
                    <a:pt x="8101584" y="654303"/>
                  </a:lnTo>
                  <a:lnTo>
                    <a:pt x="8101584" y="49275"/>
                  </a:lnTo>
                  <a:lnTo>
                    <a:pt x="8097647" y="29972"/>
                  </a:lnTo>
                  <a:lnTo>
                    <a:pt x="8087106" y="14350"/>
                  </a:lnTo>
                  <a:lnTo>
                    <a:pt x="8071358" y="3810"/>
                  </a:lnTo>
                  <a:lnTo>
                    <a:pt x="8052308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21969" y="1700022"/>
              <a:ext cx="8101965" cy="703580"/>
            </a:xfrm>
            <a:custGeom>
              <a:avLst/>
              <a:gdLst/>
              <a:ahLst/>
              <a:cxnLst/>
              <a:rect l="l" t="t" r="r" b="b"/>
              <a:pathLst>
                <a:path w="8101965" h="703580">
                  <a:moveTo>
                    <a:pt x="0" y="49275"/>
                  </a:moveTo>
                  <a:lnTo>
                    <a:pt x="3873" y="29972"/>
                  </a:lnTo>
                  <a:lnTo>
                    <a:pt x="14452" y="14350"/>
                  </a:lnTo>
                  <a:lnTo>
                    <a:pt x="30124" y="3810"/>
                  </a:lnTo>
                  <a:lnTo>
                    <a:pt x="49314" y="0"/>
                  </a:lnTo>
                  <a:lnTo>
                    <a:pt x="8052308" y="0"/>
                  </a:lnTo>
                  <a:lnTo>
                    <a:pt x="8071358" y="3810"/>
                  </a:lnTo>
                  <a:lnTo>
                    <a:pt x="8087106" y="14350"/>
                  </a:lnTo>
                  <a:lnTo>
                    <a:pt x="8097647" y="29972"/>
                  </a:lnTo>
                  <a:lnTo>
                    <a:pt x="8101583" y="49275"/>
                  </a:lnTo>
                  <a:lnTo>
                    <a:pt x="8101583" y="654303"/>
                  </a:lnTo>
                  <a:lnTo>
                    <a:pt x="8097647" y="673480"/>
                  </a:lnTo>
                  <a:lnTo>
                    <a:pt x="8087106" y="689101"/>
                  </a:lnTo>
                  <a:lnTo>
                    <a:pt x="8071358" y="699642"/>
                  </a:lnTo>
                  <a:lnTo>
                    <a:pt x="8052308" y="703579"/>
                  </a:lnTo>
                  <a:lnTo>
                    <a:pt x="49314" y="703579"/>
                  </a:lnTo>
                  <a:lnTo>
                    <a:pt x="30124" y="699642"/>
                  </a:lnTo>
                  <a:lnTo>
                    <a:pt x="14452" y="689101"/>
                  </a:lnTo>
                  <a:lnTo>
                    <a:pt x="3873" y="673480"/>
                  </a:lnTo>
                  <a:lnTo>
                    <a:pt x="0" y="654303"/>
                  </a:lnTo>
                  <a:lnTo>
                    <a:pt x="0" y="49275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5591" y="1722120"/>
              <a:ext cx="469392" cy="67513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536447" y="1712976"/>
              <a:ext cx="469265" cy="676275"/>
            </a:xfrm>
            <a:custGeom>
              <a:avLst/>
              <a:gdLst/>
              <a:ahLst/>
              <a:cxnLst/>
              <a:rect l="l" t="t" r="r" b="b"/>
              <a:pathLst>
                <a:path w="469265" h="676275">
                  <a:moveTo>
                    <a:pt x="436918" y="0"/>
                  </a:moveTo>
                  <a:lnTo>
                    <a:pt x="32131" y="0"/>
                  </a:lnTo>
                  <a:lnTo>
                    <a:pt x="19621" y="2539"/>
                  </a:lnTo>
                  <a:lnTo>
                    <a:pt x="9410" y="9398"/>
                  </a:lnTo>
                  <a:lnTo>
                    <a:pt x="2527" y="19558"/>
                  </a:lnTo>
                  <a:lnTo>
                    <a:pt x="0" y="32131"/>
                  </a:lnTo>
                  <a:lnTo>
                    <a:pt x="0" y="644017"/>
                  </a:lnTo>
                  <a:lnTo>
                    <a:pt x="2527" y="656590"/>
                  </a:lnTo>
                  <a:lnTo>
                    <a:pt x="9410" y="666750"/>
                  </a:lnTo>
                  <a:lnTo>
                    <a:pt x="19621" y="673735"/>
                  </a:lnTo>
                  <a:lnTo>
                    <a:pt x="32131" y="676275"/>
                  </a:lnTo>
                  <a:lnTo>
                    <a:pt x="436918" y="676275"/>
                  </a:lnTo>
                  <a:lnTo>
                    <a:pt x="449427" y="673735"/>
                  </a:lnTo>
                  <a:lnTo>
                    <a:pt x="459638" y="666750"/>
                  </a:lnTo>
                  <a:lnTo>
                    <a:pt x="466521" y="656590"/>
                  </a:lnTo>
                  <a:lnTo>
                    <a:pt x="469049" y="644017"/>
                  </a:lnTo>
                  <a:lnTo>
                    <a:pt x="469049" y="32131"/>
                  </a:lnTo>
                  <a:lnTo>
                    <a:pt x="466521" y="19558"/>
                  </a:lnTo>
                  <a:lnTo>
                    <a:pt x="459638" y="9398"/>
                  </a:lnTo>
                  <a:lnTo>
                    <a:pt x="449427" y="2539"/>
                  </a:lnTo>
                  <a:lnTo>
                    <a:pt x="436918" y="0"/>
                  </a:lnTo>
                  <a:close/>
                </a:path>
              </a:pathLst>
            </a:custGeom>
            <a:solidFill>
              <a:srgbClr val="E6DED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720851" y="1918842"/>
            <a:ext cx="10922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latin typeface="Georgia"/>
                <a:cs typeface="Georgia"/>
              </a:rPr>
              <a:t>2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103071" y="1805177"/>
            <a:ext cx="4678680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A4A4A"/>
                </a:solidFill>
                <a:latin typeface="Georgia"/>
                <a:cs typeface="Georgia"/>
              </a:rPr>
              <a:t>Reduce</a:t>
            </a:r>
            <a:r>
              <a:rPr dirty="0" sz="1150" spc="25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 spc="-10">
                <a:solidFill>
                  <a:srgbClr val="4A4A4A"/>
                </a:solidFill>
                <a:latin typeface="Georgia"/>
                <a:cs typeface="Georgia"/>
              </a:rPr>
              <a:t>Cancellations</a:t>
            </a:r>
            <a:endParaRPr sz="11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Kurta</a:t>
            </a:r>
            <a:r>
              <a:rPr dirty="0" sz="9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&amp;</a:t>
            </a:r>
            <a:r>
              <a:rPr dirty="0" sz="900" spc="1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Set</a:t>
            </a:r>
            <a:r>
              <a:rPr dirty="0" sz="900" spc="11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at</a:t>
            </a:r>
            <a:r>
              <a:rPr dirty="0" sz="9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~14.6%.</a:t>
            </a:r>
            <a:r>
              <a:rPr dirty="0" sz="9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Improve</a:t>
            </a:r>
            <a:r>
              <a:rPr dirty="0" sz="9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size</a:t>
            </a:r>
            <a:r>
              <a:rPr dirty="0" sz="900" spc="15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guides,</a:t>
            </a:r>
            <a:r>
              <a:rPr dirty="0" sz="900" spc="10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photography;</a:t>
            </a:r>
            <a:r>
              <a:rPr dirty="0" sz="900" spc="2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analyse</a:t>
            </a:r>
            <a:r>
              <a:rPr dirty="0" sz="90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COD</a:t>
            </a:r>
            <a:r>
              <a:rPr dirty="0" sz="900" spc="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vs</a:t>
            </a:r>
            <a:r>
              <a:rPr dirty="0" sz="9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prepaid</a:t>
            </a:r>
            <a:r>
              <a:rPr dirty="0" sz="900" spc="1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split.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14826" y="2494502"/>
            <a:ext cx="8124825" cy="728345"/>
            <a:chOff x="514826" y="2494502"/>
            <a:chExt cx="8124825" cy="728345"/>
          </a:xfrm>
        </p:grpSpPr>
        <p:sp>
          <p:nvSpPr>
            <p:cNvPr id="26" name="object 26"/>
            <p:cNvSpPr/>
            <p:nvPr/>
          </p:nvSpPr>
          <p:spPr>
            <a:xfrm>
              <a:off x="525779" y="2505455"/>
              <a:ext cx="8114030" cy="717550"/>
            </a:xfrm>
            <a:custGeom>
              <a:avLst/>
              <a:gdLst/>
              <a:ahLst/>
              <a:cxnLst/>
              <a:rect l="l" t="t" r="r" b="b"/>
              <a:pathLst>
                <a:path w="8114030" h="717550">
                  <a:moveTo>
                    <a:pt x="8068437" y="0"/>
                  </a:moveTo>
                  <a:lnTo>
                    <a:pt x="8066913" y="0"/>
                  </a:lnTo>
                  <a:lnTo>
                    <a:pt x="8081391" y="9779"/>
                  </a:lnTo>
                  <a:lnTo>
                    <a:pt x="8091932" y="25400"/>
                  </a:lnTo>
                  <a:lnTo>
                    <a:pt x="8095869" y="44704"/>
                  </a:lnTo>
                  <a:lnTo>
                    <a:pt x="8095869" y="650113"/>
                  </a:lnTo>
                  <a:lnTo>
                    <a:pt x="8091932" y="669289"/>
                  </a:lnTo>
                  <a:lnTo>
                    <a:pt x="8081391" y="684911"/>
                  </a:lnTo>
                  <a:lnTo>
                    <a:pt x="8065770" y="695579"/>
                  </a:lnTo>
                  <a:lnTo>
                    <a:pt x="8046593" y="699388"/>
                  </a:lnTo>
                  <a:lnTo>
                    <a:pt x="44767" y="699388"/>
                  </a:lnTo>
                  <a:lnTo>
                    <a:pt x="0" y="670306"/>
                  </a:lnTo>
                  <a:lnTo>
                    <a:pt x="406" y="672845"/>
                  </a:lnTo>
                  <a:lnTo>
                    <a:pt x="24561" y="708025"/>
                  </a:lnTo>
                  <a:lnTo>
                    <a:pt x="55537" y="717295"/>
                  </a:lnTo>
                  <a:lnTo>
                    <a:pt x="8058023" y="717295"/>
                  </a:lnTo>
                  <a:lnTo>
                    <a:pt x="8097774" y="700277"/>
                  </a:lnTo>
                  <a:lnTo>
                    <a:pt x="8113776" y="660781"/>
                  </a:lnTo>
                  <a:lnTo>
                    <a:pt x="8113776" y="54737"/>
                  </a:lnTo>
                  <a:lnTo>
                    <a:pt x="8096758" y="15112"/>
                  </a:lnTo>
                  <a:lnTo>
                    <a:pt x="8079486" y="3429"/>
                  </a:lnTo>
                  <a:lnTo>
                    <a:pt x="8068437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21207" y="2500883"/>
              <a:ext cx="8101965" cy="704215"/>
            </a:xfrm>
            <a:custGeom>
              <a:avLst/>
              <a:gdLst/>
              <a:ahLst/>
              <a:cxnLst/>
              <a:rect l="l" t="t" r="r" b="b"/>
              <a:pathLst>
                <a:path w="8101965" h="704214">
                  <a:moveTo>
                    <a:pt x="8052308" y="0"/>
                  </a:moveTo>
                  <a:lnTo>
                    <a:pt x="49314" y="0"/>
                  </a:lnTo>
                  <a:lnTo>
                    <a:pt x="30124" y="3937"/>
                  </a:lnTo>
                  <a:lnTo>
                    <a:pt x="14452" y="14478"/>
                  </a:lnTo>
                  <a:lnTo>
                    <a:pt x="3873" y="30099"/>
                  </a:lnTo>
                  <a:lnTo>
                    <a:pt x="0" y="49403"/>
                  </a:lnTo>
                  <a:lnTo>
                    <a:pt x="0" y="654431"/>
                  </a:lnTo>
                  <a:lnTo>
                    <a:pt x="3873" y="673608"/>
                  </a:lnTo>
                  <a:lnTo>
                    <a:pt x="14452" y="689229"/>
                  </a:lnTo>
                  <a:lnTo>
                    <a:pt x="30124" y="699770"/>
                  </a:lnTo>
                  <a:lnTo>
                    <a:pt x="49314" y="703707"/>
                  </a:lnTo>
                  <a:lnTo>
                    <a:pt x="8052308" y="703707"/>
                  </a:lnTo>
                  <a:lnTo>
                    <a:pt x="8071358" y="699770"/>
                  </a:lnTo>
                  <a:lnTo>
                    <a:pt x="8087106" y="689229"/>
                  </a:lnTo>
                  <a:lnTo>
                    <a:pt x="8097647" y="673608"/>
                  </a:lnTo>
                  <a:lnTo>
                    <a:pt x="8101584" y="654431"/>
                  </a:lnTo>
                  <a:lnTo>
                    <a:pt x="8101584" y="49403"/>
                  </a:lnTo>
                  <a:lnTo>
                    <a:pt x="8097647" y="30099"/>
                  </a:lnTo>
                  <a:lnTo>
                    <a:pt x="8087106" y="14478"/>
                  </a:lnTo>
                  <a:lnTo>
                    <a:pt x="8071358" y="3937"/>
                  </a:lnTo>
                  <a:lnTo>
                    <a:pt x="8052308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521969" y="2501645"/>
              <a:ext cx="8101965" cy="704215"/>
            </a:xfrm>
            <a:custGeom>
              <a:avLst/>
              <a:gdLst/>
              <a:ahLst/>
              <a:cxnLst/>
              <a:rect l="l" t="t" r="r" b="b"/>
              <a:pathLst>
                <a:path w="8101965" h="704214">
                  <a:moveTo>
                    <a:pt x="0" y="49403"/>
                  </a:moveTo>
                  <a:lnTo>
                    <a:pt x="3873" y="30099"/>
                  </a:lnTo>
                  <a:lnTo>
                    <a:pt x="14452" y="14478"/>
                  </a:lnTo>
                  <a:lnTo>
                    <a:pt x="30124" y="3937"/>
                  </a:lnTo>
                  <a:lnTo>
                    <a:pt x="49314" y="0"/>
                  </a:lnTo>
                  <a:lnTo>
                    <a:pt x="8052308" y="0"/>
                  </a:lnTo>
                  <a:lnTo>
                    <a:pt x="8071358" y="3937"/>
                  </a:lnTo>
                  <a:lnTo>
                    <a:pt x="8087106" y="14478"/>
                  </a:lnTo>
                  <a:lnTo>
                    <a:pt x="8097647" y="30099"/>
                  </a:lnTo>
                  <a:lnTo>
                    <a:pt x="8101583" y="49403"/>
                  </a:lnTo>
                  <a:lnTo>
                    <a:pt x="8101583" y="654431"/>
                  </a:lnTo>
                  <a:lnTo>
                    <a:pt x="8097647" y="673608"/>
                  </a:lnTo>
                  <a:lnTo>
                    <a:pt x="8087106" y="689229"/>
                  </a:lnTo>
                  <a:lnTo>
                    <a:pt x="8071358" y="699770"/>
                  </a:lnTo>
                  <a:lnTo>
                    <a:pt x="8052308" y="703707"/>
                  </a:lnTo>
                  <a:lnTo>
                    <a:pt x="49314" y="703707"/>
                  </a:lnTo>
                  <a:lnTo>
                    <a:pt x="30124" y="699770"/>
                  </a:lnTo>
                  <a:lnTo>
                    <a:pt x="14452" y="689229"/>
                  </a:lnTo>
                  <a:lnTo>
                    <a:pt x="3873" y="673608"/>
                  </a:lnTo>
                  <a:lnTo>
                    <a:pt x="0" y="654431"/>
                  </a:lnTo>
                  <a:lnTo>
                    <a:pt x="0" y="49403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591" y="2523743"/>
              <a:ext cx="469392" cy="67665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536447" y="2514599"/>
              <a:ext cx="469265" cy="676275"/>
            </a:xfrm>
            <a:custGeom>
              <a:avLst/>
              <a:gdLst/>
              <a:ahLst/>
              <a:cxnLst/>
              <a:rect l="l" t="t" r="r" b="b"/>
              <a:pathLst>
                <a:path w="469265" h="676275">
                  <a:moveTo>
                    <a:pt x="436918" y="0"/>
                  </a:moveTo>
                  <a:lnTo>
                    <a:pt x="32131" y="0"/>
                  </a:lnTo>
                  <a:lnTo>
                    <a:pt x="19621" y="2539"/>
                  </a:lnTo>
                  <a:lnTo>
                    <a:pt x="9410" y="9398"/>
                  </a:lnTo>
                  <a:lnTo>
                    <a:pt x="2527" y="19557"/>
                  </a:lnTo>
                  <a:lnTo>
                    <a:pt x="0" y="32131"/>
                  </a:lnTo>
                  <a:lnTo>
                    <a:pt x="0" y="644017"/>
                  </a:lnTo>
                  <a:lnTo>
                    <a:pt x="2527" y="656463"/>
                  </a:lnTo>
                  <a:lnTo>
                    <a:pt x="9410" y="666750"/>
                  </a:lnTo>
                  <a:lnTo>
                    <a:pt x="19621" y="673607"/>
                  </a:lnTo>
                  <a:lnTo>
                    <a:pt x="32131" y="676148"/>
                  </a:lnTo>
                  <a:lnTo>
                    <a:pt x="436918" y="676148"/>
                  </a:lnTo>
                  <a:lnTo>
                    <a:pt x="449427" y="673607"/>
                  </a:lnTo>
                  <a:lnTo>
                    <a:pt x="459638" y="666750"/>
                  </a:lnTo>
                  <a:lnTo>
                    <a:pt x="466521" y="656463"/>
                  </a:lnTo>
                  <a:lnTo>
                    <a:pt x="469049" y="644017"/>
                  </a:lnTo>
                  <a:lnTo>
                    <a:pt x="469049" y="32131"/>
                  </a:lnTo>
                  <a:lnTo>
                    <a:pt x="466521" y="19557"/>
                  </a:lnTo>
                  <a:lnTo>
                    <a:pt x="459638" y="9398"/>
                  </a:lnTo>
                  <a:lnTo>
                    <a:pt x="449427" y="2539"/>
                  </a:lnTo>
                  <a:lnTo>
                    <a:pt x="436918" y="0"/>
                  </a:lnTo>
                  <a:close/>
                </a:path>
              </a:pathLst>
            </a:custGeom>
            <a:solidFill>
              <a:srgbClr val="E6DED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20851" y="2720467"/>
            <a:ext cx="107950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latin typeface="Georgia"/>
                <a:cs typeface="Georgia"/>
              </a:rPr>
              <a:t>3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03071" y="2607055"/>
            <a:ext cx="5890260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A4A4A"/>
                </a:solidFill>
                <a:latin typeface="Georgia"/>
                <a:cs typeface="Georgia"/>
              </a:rPr>
              <a:t>Focus</a:t>
            </a:r>
            <a:r>
              <a:rPr dirty="0" sz="1150" spc="1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>
                <a:solidFill>
                  <a:srgbClr val="4A4A4A"/>
                </a:solidFill>
                <a:latin typeface="Georgia"/>
                <a:cs typeface="Georgia"/>
              </a:rPr>
              <a:t>on</a:t>
            </a:r>
            <a:r>
              <a:rPr dirty="0" sz="115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>
                <a:solidFill>
                  <a:srgbClr val="4A4A4A"/>
                </a:solidFill>
                <a:latin typeface="Georgia"/>
                <a:cs typeface="Georgia"/>
              </a:rPr>
              <a:t>Top</a:t>
            </a:r>
            <a:r>
              <a:rPr dirty="0" sz="1150" spc="1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 spc="-10">
                <a:solidFill>
                  <a:srgbClr val="4A4A4A"/>
                </a:solidFill>
                <a:latin typeface="Georgia"/>
                <a:cs typeface="Georgia"/>
              </a:rPr>
              <a:t>States</a:t>
            </a:r>
            <a:endParaRPr sz="11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Maharashtra</a:t>
            </a:r>
            <a:r>
              <a:rPr dirty="0" sz="900" spc="1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&amp;</a:t>
            </a:r>
            <a:r>
              <a:rPr dirty="0" sz="900" spc="15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Karnataka</a:t>
            </a:r>
            <a:r>
              <a:rPr dirty="0" sz="900" spc="20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=</a:t>
            </a:r>
            <a:r>
              <a:rPr dirty="0" sz="900" spc="9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30.1%</a:t>
            </a:r>
            <a:r>
              <a:rPr dirty="0" sz="900" spc="15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revenue.</a:t>
            </a:r>
            <a:r>
              <a:rPr dirty="0" sz="900" spc="2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Pilot</a:t>
            </a:r>
            <a:r>
              <a:rPr dirty="0" sz="900" spc="2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same-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day</a:t>
            </a:r>
            <a:r>
              <a:rPr dirty="0" sz="900" spc="20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delivery</a:t>
            </a:r>
            <a:r>
              <a:rPr dirty="0" sz="900" spc="229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in</a:t>
            </a:r>
            <a:r>
              <a:rPr dirty="0" sz="900" spc="15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Mumbai,</a:t>
            </a:r>
            <a:r>
              <a:rPr dirty="0" sz="900" spc="1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Pune,</a:t>
            </a:r>
            <a:r>
              <a:rPr dirty="0" sz="900" spc="1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Bengaluru,</a:t>
            </a:r>
            <a:r>
              <a:rPr dirty="0" sz="900" spc="18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Hyderabad.</a:t>
            </a:r>
            <a:endParaRPr sz="900">
              <a:latin typeface="Georgia"/>
              <a:cs typeface="Georgi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514826" y="3296126"/>
            <a:ext cx="8124825" cy="728345"/>
            <a:chOff x="514826" y="3296126"/>
            <a:chExt cx="8124825" cy="728345"/>
          </a:xfrm>
        </p:grpSpPr>
        <p:sp>
          <p:nvSpPr>
            <p:cNvPr id="34" name="object 34"/>
            <p:cNvSpPr/>
            <p:nvPr/>
          </p:nvSpPr>
          <p:spPr>
            <a:xfrm>
              <a:off x="525779" y="3307080"/>
              <a:ext cx="8114030" cy="717550"/>
            </a:xfrm>
            <a:custGeom>
              <a:avLst/>
              <a:gdLst/>
              <a:ahLst/>
              <a:cxnLst/>
              <a:rect l="l" t="t" r="r" b="b"/>
              <a:pathLst>
                <a:path w="8114030" h="717550">
                  <a:moveTo>
                    <a:pt x="8068437" y="0"/>
                  </a:moveTo>
                  <a:lnTo>
                    <a:pt x="8066913" y="0"/>
                  </a:lnTo>
                  <a:lnTo>
                    <a:pt x="8081391" y="9779"/>
                  </a:lnTo>
                  <a:lnTo>
                    <a:pt x="8091932" y="25400"/>
                  </a:lnTo>
                  <a:lnTo>
                    <a:pt x="8095869" y="44577"/>
                  </a:lnTo>
                  <a:lnTo>
                    <a:pt x="8095869" y="650062"/>
                  </a:lnTo>
                  <a:lnTo>
                    <a:pt x="8091932" y="669251"/>
                  </a:lnTo>
                  <a:lnTo>
                    <a:pt x="8081391" y="684898"/>
                  </a:lnTo>
                  <a:lnTo>
                    <a:pt x="8065770" y="695464"/>
                  </a:lnTo>
                  <a:lnTo>
                    <a:pt x="8046593" y="699338"/>
                  </a:lnTo>
                  <a:lnTo>
                    <a:pt x="44767" y="699338"/>
                  </a:lnTo>
                  <a:lnTo>
                    <a:pt x="0" y="670242"/>
                  </a:lnTo>
                  <a:lnTo>
                    <a:pt x="126" y="671474"/>
                  </a:lnTo>
                  <a:lnTo>
                    <a:pt x="23774" y="707491"/>
                  </a:lnTo>
                  <a:lnTo>
                    <a:pt x="43484" y="715924"/>
                  </a:lnTo>
                  <a:lnTo>
                    <a:pt x="43294" y="715924"/>
                  </a:lnTo>
                  <a:lnTo>
                    <a:pt x="55537" y="717245"/>
                  </a:lnTo>
                  <a:lnTo>
                    <a:pt x="8057769" y="717245"/>
                  </a:lnTo>
                  <a:lnTo>
                    <a:pt x="8097393" y="700570"/>
                  </a:lnTo>
                  <a:lnTo>
                    <a:pt x="8113776" y="660819"/>
                  </a:lnTo>
                  <a:lnTo>
                    <a:pt x="8113776" y="54737"/>
                  </a:lnTo>
                  <a:lnTo>
                    <a:pt x="8096758" y="14986"/>
                  </a:lnTo>
                  <a:lnTo>
                    <a:pt x="8079486" y="3429"/>
                  </a:lnTo>
                  <a:lnTo>
                    <a:pt x="8068437" y="0"/>
                  </a:lnTo>
                  <a:close/>
                </a:path>
              </a:pathLst>
            </a:custGeom>
            <a:solidFill>
              <a:srgbClr val="E6DED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521207" y="3302508"/>
              <a:ext cx="8101965" cy="704215"/>
            </a:xfrm>
            <a:custGeom>
              <a:avLst/>
              <a:gdLst/>
              <a:ahLst/>
              <a:cxnLst/>
              <a:rect l="l" t="t" r="r" b="b"/>
              <a:pathLst>
                <a:path w="8101965" h="704214">
                  <a:moveTo>
                    <a:pt x="8052308" y="0"/>
                  </a:moveTo>
                  <a:lnTo>
                    <a:pt x="49314" y="0"/>
                  </a:lnTo>
                  <a:lnTo>
                    <a:pt x="30124" y="3810"/>
                  </a:lnTo>
                  <a:lnTo>
                    <a:pt x="14452" y="14478"/>
                  </a:lnTo>
                  <a:lnTo>
                    <a:pt x="3873" y="30099"/>
                  </a:lnTo>
                  <a:lnTo>
                    <a:pt x="0" y="49276"/>
                  </a:lnTo>
                  <a:lnTo>
                    <a:pt x="0" y="654392"/>
                  </a:lnTo>
                  <a:lnTo>
                    <a:pt x="3873" y="673569"/>
                  </a:lnTo>
                  <a:lnTo>
                    <a:pt x="14452" y="689216"/>
                  </a:lnTo>
                  <a:lnTo>
                    <a:pt x="30124" y="699770"/>
                  </a:lnTo>
                  <a:lnTo>
                    <a:pt x="49314" y="703643"/>
                  </a:lnTo>
                  <a:lnTo>
                    <a:pt x="8052308" y="703643"/>
                  </a:lnTo>
                  <a:lnTo>
                    <a:pt x="8071358" y="699770"/>
                  </a:lnTo>
                  <a:lnTo>
                    <a:pt x="8087106" y="689216"/>
                  </a:lnTo>
                  <a:lnTo>
                    <a:pt x="8097647" y="673569"/>
                  </a:lnTo>
                  <a:lnTo>
                    <a:pt x="8101584" y="654392"/>
                  </a:lnTo>
                  <a:lnTo>
                    <a:pt x="8101584" y="49276"/>
                  </a:lnTo>
                  <a:lnTo>
                    <a:pt x="8097647" y="30099"/>
                  </a:lnTo>
                  <a:lnTo>
                    <a:pt x="8087106" y="14478"/>
                  </a:lnTo>
                  <a:lnTo>
                    <a:pt x="8071358" y="3810"/>
                  </a:lnTo>
                  <a:lnTo>
                    <a:pt x="8052308" y="0"/>
                  </a:lnTo>
                  <a:close/>
                </a:path>
              </a:pathLst>
            </a:custGeom>
            <a:solidFill>
              <a:srgbClr val="FBF9F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521969" y="3303270"/>
              <a:ext cx="8101965" cy="704215"/>
            </a:xfrm>
            <a:custGeom>
              <a:avLst/>
              <a:gdLst/>
              <a:ahLst/>
              <a:cxnLst/>
              <a:rect l="l" t="t" r="r" b="b"/>
              <a:pathLst>
                <a:path w="8101965" h="704214">
                  <a:moveTo>
                    <a:pt x="0" y="49275"/>
                  </a:moveTo>
                  <a:lnTo>
                    <a:pt x="3873" y="30098"/>
                  </a:lnTo>
                  <a:lnTo>
                    <a:pt x="14452" y="14477"/>
                  </a:lnTo>
                  <a:lnTo>
                    <a:pt x="30124" y="3809"/>
                  </a:lnTo>
                  <a:lnTo>
                    <a:pt x="49314" y="0"/>
                  </a:lnTo>
                  <a:lnTo>
                    <a:pt x="8052308" y="0"/>
                  </a:lnTo>
                  <a:lnTo>
                    <a:pt x="8071358" y="3809"/>
                  </a:lnTo>
                  <a:lnTo>
                    <a:pt x="8087106" y="14477"/>
                  </a:lnTo>
                  <a:lnTo>
                    <a:pt x="8097647" y="30098"/>
                  </a:lnTo>
                  <a:lnTo>
                    <a:pt x="8101583" y="49275"/>
                  </a:lnTo>
                  <a:lnTo>
                    <a:pt x="8101583" y="654392"/>
                  </a:lnTo>
                  <a:lnTo>
                    <a:pt x="8097647" y="673569"/>
                  </a:lnTo>
                  <a:lnTo>
                    <a:pt x="8087106" y="689216"/>
                  </a:lnTo>
                  <a:lnTo>
                    <a:pt x="8071358" y="699769"/>
                  </a:lnTo>
                  <a:lnTo>
                    <a:pt x="8052308" y="703643"/>
                  </a:lnTo>
                  <a:lnTo>
                    <a:pt x="49314" y="703643"/>
                  </a:lnTo>
                  <a:lnTo>
                    <a:pt x="30124" y="699769"/>
                  </a:lnTo>
                  <a:lnTo>
                    <a:pt x="14452" y="689216"/>
                  </a:lnTo>
                  <a:lnTo>
                    <a:pt x="3873" y="673569"/>
                  </a:lnTo>
                  <a:lnTo>
                    <a:pt x="0" y="654392"/>
                  </a:lnTo>
                  <a:lnTo>
                    <a:pt x="0" y="49275"/>
                  </a:lnTo>
                  <a:close/>
                </a:path>
              </a:pathLst>
            </a:custGeom>
            <a:ln w="14287">
              <a:solidFill>
                <a:srgbClr val="E6DED2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5591" y="3325368"/>
              <a:ext cx="469392" cy="67665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536447" y="3316224"/>
              <a:ext cx="469265" cy="676275"/>
            </a:xfrm>
            <a:custGeom>
              <a:avLst/>
              <a:gdLst/>
              <a:ahLst/>
              <a:cxnLst/>
              <a:rect l="l" t="t" r="r" b="b"/>
              <a:pathLst>
                <a:path w="469265" h="676275">
                  <a:moveTo>
                    <a:pt x="436918" y="0"/>
                  </a:moveTo>
                  <a:lnTo>
                    <a:pt x="32131" y="0"/>
                  </a:lnTo>
                  <a:lnTo>
                    <a:pt x="19621" y="2539"/>
                  </a:lnTo>
                  <a:lnTo>
                    <a:pt x="9410" y="9398"/>
                  </a:lnTo>
                  <a:lnTo>
                    <a:pt x="2527" y="19557"/>
                  </a:lnTo>
                  <a:lnTo>
                    <a:pt x="0" y="32131"/>
                  </a:lnTo>
                  <a:lnTo>
                    <a:pt x="0" y="643966"/>
                  </a:lnTo>
                  <a:lnTo>
                    <a:pt x="2527" y="656488"/>
                  </a:lnTo>
                  <a:lnTo>
                    <a:pt x="9410" y="666724"/>
                  </a:lnTo>
                  <a:lnTo>
                    <a:pt x="19621" y="673620"/>
                  </a:lnTo>
                  <a:lnTo>
                    <a:pt x="32131" y="676147"/>
                  </a:lnTo>
                  <a:lnTo>
                    <a:pt x="436918" y="676147"/>
                  </a:lnTo>
                  <a:lnTo>
                    <a:pt x="449427" y="673620"/>
                  </a:lnTo>
                  <a:lnTo>
                    <a:pt x="459638" y="666724"/>
                  </a:lnTo>
                  <a:lnTo>
                    <a:pt x="466521" y="656488"/>
                  </a:lnTo>
                  <a:lnTo>
                    <a:pt x="469049" y="643966"/>
                  </a:lnTo>
                  <a:lnTo>
                    <a:pt x="469049" y="32131"/>
                  </a:lnTo>
                  <a:lnTo>
                    <a:pt x="466521" y="19557"/>
                  </a:lnTo>
                  <a:lnTo>
                    <a:pt x="459638" y="9398"/>
                  </a:lnTo>
                  <a:lnTo>
                    <a:pt x="449427" y="2539"/>
                  </a:lnTo>
                  <a:lnTo>
                    <a:pt x="436918" y="0"/>
                  </a:lnTo>
                  <a:close/>
                </a:path>
              </a:pathLst>
            </a:custGeom>
            <a:solidFill>
              <a:srgbClr val="E6DED2">
                <a:alpha val="5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720851" y="3522979"/>
            <a:ext cx="11048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latin typeface="Georgia"/>
                <a:cs typeface="Georgia"/>
              </a:rPr>
              <a:t>4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03071" y="3408934"/>
            <a:ext cx="4284345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A4A4A"/>
                </a:solidFill>
                <a:latin typeface="Georgia"/>
                <a:cs typeface="Georgia"/>
              </a:rPr>
              <a:t>Expand</a:t>
            </a:r>
            <a:r>
              <a:rPr dirty="0" sz="1150" spc="1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>
                <a:solidFill>
                  <a:srgbClr val="4A4A4A"/>
                </a:solidFill>
                <a:latin typeface="Georgia"/>
                <a:cs typeface="Georgia"/>
              </a:rPr>
              <a:t>B2B</a:t>
            </a:r>
            <a:r>
              <a:rPr dirty="0" sz="115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 spc="-10">
                <a:solidFill>
                  <a:srgbClr val="4A4A4A"/>
                </a:solidFill>
                <a:latin typeface="Georgia"/>
                <a:cs typeface="Georgia"/>
              </a:rPr>
              <a:t>Channel</a:t>
            </a:r>
            <a:endParaRPr sz="11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Only</a:t>
            </a:r>
            <a:r>
              <a:rPr dirty="0" sz="900" spc="1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0.62%</a:t>
            </a:r>
            <a:r>
              <a:rPr dirty="0" sz="9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B2B</a:t>
            </a:r>
            <a:r>
              <a:rPr dirty="0" sz="900" spc="14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share.</a:t>
            </a:r>
            <a:r>
              <a:rPr dirty="0" sz="900" spc="15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Dedicated</a:t>
            </a:r>
            <a:r>
              <a:rPr dirty="0" sz="9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portal</a:t>
            </a:r>
            <a:r>
              <a:rPr dirty="0" sz="900" spc="16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for</a:t>
            </a:r>
            <a:r>
              <a:rPr dirty="0" sz="900" spc="1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bulk</a:t>
            </a:r>
            <a:r>
              <a:rPr dirty="0" sz="900" spc="15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orders</a:t>
            </a:r>
            <a:r>
              <a:rPr dirty="0" sz="900" spc="1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could</a:t>
            </a:r>
            <a:r>
              <a:rPr dirty="0" sz="900" spc="1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diversify</a:t>
            </a:r>
            <a:r>
              <a:rPr dirty="0" sz="900" spc="1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revenue.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20851" y="4324908"/>
            <a:ext cx="104139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350" spc="-50">
                <a:latin typeface="Georgia"/>
                <a:cs typeface="Georgia"/>
              </a:rPr>
              <a:t>5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03071" y="4210913"/>
            <a:ext cx="4161790" cy="4279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50">
                <a:solidFill>
                  <a:srgbClr val="4A4A4A"/>
                </a:solidFill>
                <a:latin typeface="Georgia"/>
                <a:cs typeface="Georgia"/>
              </a:rPr>
              <a:t>Upsell</a:t>
            </a:r>
            <a:r>
              <a:rPr dirty="0" sz="1150" spc="2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>
                <a:solidFill>
                  <a:srgbClr val="4A4A4A"/>
                </a:solidFill>
                <a:latin typeface="Georgia"/>
                <a:cs typeface="Georgia"/>
              </a:rPr>
              <a:t>Expedited</a:t>
            </a:r>
            <a:r>
              <a:rPr dirty="0" sz="1150" spc="2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50" spc="-10">
                <a:solidFill>
                  <a:srgbClr val="4A4A4A"/>
                </a:solidFill>
                <a:latin typeface="Georgia"/>
                <a:cs typeface="Georgia"/>
              </a:rPr>
              <a:t>Shipping</a:t>
            </a:r>
            <a:endParaRPr sz="115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68.9%</a:t>
            </a:r>
            <a:r>
              <a:rPr dirty="0" sz="9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already</a:t>
            </a:r>
            <a:r>
              <a:rPr dirty="0" sz="900" spc="2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use</a:t>
            </a:r>
            <a:r>
              <a:rPr dirty="0" sz="900" spc="17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expedited.</a:t>
            </a:r>
            <a:r>
              <a:rPr dirty="0" sz="900" spc="18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Convert</a:t>
            </a:r>
            <a:r>
              <a:rPr dirty="0" sz="900" spc="21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remaining</a:t>
            </a:r>
            <a:r>
              <a:rPr dirty="0" sz="900" spc="2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31.1%</a:t>
            </a:r>
            <a:r>
              <a:rPr dirty="0" sz="900" spc="20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via</a:t>
            </a:r>
            <a:r>
              <a:rPr dirty="0" sz="900" spc="2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>
                <a:solidFill>
                  <a:srgbClr val="4A4A4A"/>
                </a:solidFill>
                <a:latin typeface="Georgia"/>
                <a:cs typeface="Georgia"/>
              </a:rPr>
              <a:t>Prime</a:t>
            </a:r>
            <a:r>
              <a:rPr dirty="0" sz="900" spc="15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900" spc="-10">
                <a:solidFill>
                  <a:srgbClr val="4A4A4A"/>
                </a:solidFill>
                <a:latin typeface="Georgia"/>
                <a:cs typeface="Georgia"/>
              </a:rPr>
              <a:t>promotions.</a:t>
            </a:r>
            <a:endParaRPr sz="9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83209" y="724281"/>
            <a:ext cx="5689600" cy="444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750" spc="60"/>
              <a:t>Skills</a:t>
            </a:r>
            <a:r>
              <a:rPr dirty="0" sz="2750" spc="160"/>
              <a:t> </a:t>
            </a:r>
            <a:r>
              <a:rPr dirty="0" sz="2750" spc="90"/>
              <a:t>Demonstrated</a:t>
            </a:r>
            <a:r>
              <a:rPr dirty="0" sz="2750" spc="270"/>
              <a:t> </a:t>
            </a:r>
            <a:r>
              <a:rPr dirty="0" sz="2750"/>
              <a:t>&amp;</a:t>
            </a:r>
            <a:r>
              <a:rPr dirty="0" sz="2750" spc="200"/>
              <a:t> </a:t>
            </a:r>
            <a:r>
              <a:rPr dirty="0" sz="2750" spc="55"/>
              <a:t>Conclusion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63" y="1953767"/>
            <a:ext cx="211836" cy="2133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63" y="2691383"/>
            <a:ext cx="211836" cy="21336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3209" y="1536953"/>
            <a:ext cx="3818254" cy="13785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solidFill>
                  <a:srgbClr val="393939"/>
                </a:solidFill>
                <a:latin typeface="Georgia"/>
                <a:cs typeface="Georgia"/>
              </a:rPr>
              <a:t>Skills</a:t>
            </a:r>
            <a:r>
              <a:rPr dirty="0" sz="1350" spc="215">
                <a:solidFill>
                  <a:srgbClr val="393939"/>
                </a:solidFill>
                <a:latin typeface="Georgia"/>
                <a:cs typeface="Georgia"/>
              </a:rPr>
              <a:t> </a:t>
            </a:r>
            <a:r>
              <a:rPr dirty="0" sz="1350" spc="35">
                <a:solidFill>
                  <a:srgbClr val="393939"/>
                </a:solidFill>
                <a:latin typeface="Georgia"/>
                <a:cs typeface="Georgia"/>
              </a:rPr>
              <a:t>Showcased</a:t>
            </a:r>
            <a:endParaRPr sz="1350">
              <a:latin typeface="Georgia"/>
              <a:cs typeface="Georgia"/>
            </a:endParaRPr>
          </a:p>
          <a:p>
            <a:pPr marL="472440" marR="5080">
              <a:lnSpc>
                <a:spcPct val="130900"/>
              </a:lnSpc>
              <a:spcBef>
                <a:spcPts val="1415"/>
              </a:spcBef>
            </a:pPr>
            <a:r>
              <a:rPr dirty="0" sz="1100" spc="-75" b="1">
                <a:solidFill>
                  <a:srgbClr val="4A4A4A"/>
                </a:solidFill>
                <a:latin typeface="Georgia"/>
                <a:cs typeface="Georgia"/>
              </a:rPr>
              <a:t>SQL</a:t>
            </a:r>
            <a:r>
              <a:rPr dirty="0" sz="1100" spc="-100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—</a:t>
            </a:r>
            <a:r>
              <a:rPr dirty="0" sz="1100" spc="1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50">
                <a:solidFill>
                  <a:srgbClr val="4A4A4A"/>
                </a:solidFill>
                <a:latin typeface="Georgia"/>
                <a:cs typeface="Georgia"/>
              </a:rPr>
              <a:t>17</a:t>
            </a:r>
            <a:r>
              <a:rPr dirty="0" sz="1100" spc="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queries:</a:t>
            </a:r>
            <a:r>
              <a:rPr dirty="0" sz="1100" spc="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CTEs,</a:t>
            </a:r>
            <a:r>
              <a:rPr dirty="0" sz="1100" spc="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NTILE,</a:t>
            </a:r>
            <a:r>
              <a:rPr dirty="0" sz="1100" spc="-2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RANK,</a:t>
            </a:r>
            <a:r>
              <a:rPr dirty="0" sz="1100" spc="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PARTITION </a:t>
            </a:r>
            <a:r>
              <a:rPr dirty="0" sz="1100" spc="-25">
                <a:solidFill>
                  <a:srgbClr val="4A4A4A"/>
                </a:solidFill>
                <a:latin typeface="Georgia"/>
                <a:cs typeface="Georgia"/>
              </a:rPr>
              <a:t>BY</a:t>
            </a: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</a:pPr>
            <a:endParaRPr sz="1100">
              <a:latin typeface="Georgia"/>
              <a:cs typeface="Georgia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100">
              <a:latin typeface="Georgia"/>
              <a:cs typeface="Georgia"/>
            </a:endParaRPr>
          </a:p>
          <a:p>
            <a:pPr marL="472440">
              <a:lnSpc>
                <a:spcPct val="100000"/>
              </a:lnSpc>
              <a:spcBef>
                <a:spcPts val="5"/>
              </a:spcBef>
            </a:pPr>
            <a:r>
              <a:rPr dirty="0" sz="1100" spc="-55" b="1">
                <a:solidFill>
                  <a:srgbClr val="4A4A4A"/>
                </a:solidFill>
                <a:latin typeface="Georgia"/>
                <a:cs typeface="Georgia"/>
              </a:rPr>
              <a:t>Power</a:t>
            </a:r>
            <a:r>
              <a:rPr dirty="0" sz="1100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30" b="1">
                <a:solidFill>
                  <a:srgbClr val="4A4A4A"/>
                </a:solidFill>
                <a:latin typeface="Georgia"/>
                <a:cs typeface="Georgia"/>
              </a:rPr>
              <a:t>BI</a:t>
            </a:r>
            <a:r>
              <a:rPr dirty="0" sz="1100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—</a:t>
            </a:r>
            <a:r>
              <a:rPr dirty="0" sz="1100" spc="24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KPIs,</a:t>
            </a:r>
            <a:r>
              <a:rPr dirty="0" sz="1100" spc="12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maps,</a:t>
            </a:r>
            <a:r>
              <a:rPr dirty="0" sz="1100" spc="13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charts,</a:t>
            </a:r>
            <a:r>
              <a:rPr dirty="0" sz="1100" spc="10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interactive</a:t>
            </a:r>
            <a:r>
              <a:rPr dirty="0" sz="1100" spc="114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slicers</a:t>
            </a:r>
            <a:endParaRPr sz="1100">
              <a:latin typeface="Georgia"/>
              <a:cs typeface="Georg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163" y="3407664"/>
            <a:ext cx="211836" cy="21183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44067" y="3335267"/>
            <a:ext cx="3324860" cy="47180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dirty="0" sz="1100" spc="-60" b="1">
                <a:solidFill>
                  <a:srgbClr val="4A4A4A"/>
                </a:solidFill>
                <a:latin typeface="Georgia"/>
                <a:cs typeface="Georgia"/>
              </a:rPr>
              <a:t>Business</a:t>
            </a:r>
            <a:r>
              <a:rPr dirty="0" sz="1100" spc="-35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55" b="1">
                <a:solidFill>
                  <a:srgbClr val="4A4A4A"/>
                </a:solidFill>
                <a:latin typeface="Georgia"/>
                <a:cs typeface="Georgia"/>
              </a:rPr>
              <a:t>Acumen</a:t>
            </a:r>
            <a:r>
              <a:rPr dirty="0" sz="1100" spc="5" b="1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—</a:t>
            </a:r>
            <a:r>
              <a:rPr dirty="0" sz="1100" spc="2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Actionable</a:t>
            </a:r>
            <a:r>
              <a:rPr dirty="0" sz="1100" spc="13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recommendations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with</a:t>
            </a:r>
            <a:r>
              <a:rPr dirty="0" sz="1100" spc="275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>
                <a:solidFill>
                  <a:srgbClr val="4A4A4A"/>
                </a:solidFill>
                <a:latin typeface="Georgia"/>
                <a:cs typeface="Georgia"/>
              </a:rPr>
              <a:t>revenue</a:t>
            </a:r>
            <a:r>
              <a:rPr dirty="0" sz="1100" spc="290">
                <a:solidFill>
                  <a:srgbClr val="4A4A4A"/>
                </a:solidFill>
                <a:latin typeface="Georgia"/>
                <a:cs typeface="Georgia"/>
              </a:rPr>
              <a:t> </a:t>
            </a:r>
            <a:r>
              <a:rPr dirty="0" sz="1100" spc="-10">
                <a:solidFill>
                  <a:srgbClr val="4A4A4A"/>
                </a:solidFill>
                <a:latin typeface="Georgia"/>
                <a:cs typeface="Georgia"/>
              </a:rPr>
              <a:t>context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648200" y="1424939"/>
            <a:ext cx="4107179" cy="2950845"/>
          </a:xfrm>
          <a:custGeom>
            <a:avLst/>
            <a:gdLst/>
            <a:ahLst/>
            <a:cxnLst/>
            <a:rect l="l" t="t" r="r" b="b"/>
            <a:pathLst>
              <a:path w="4107179" h="2950845">
                <a:moveTo>
                  <a:pt x="4005072" y="0"/>
                </a:moveTo>
                <a:lnTo>
                  <a:pt x="102108" y="0"/>
                </a:lnTo>
                <a:lnTo>
                  <a:pt x="62357" y="8000"/>
                </a:lnTo>
                <a:lnTo>
                  <a:pt x="29845" y="29845"/>
                </a:lnTo>
                <a:lnTo>
                  <a:pt x="8000" y="62230"/>
                </a:lnTo>
                <a:lnTo>
                  <a:pt x="0" y="101981"/>
                </a:lnTo>
                <a:lnTo>
                  <a:pt x="0" y="2848190"/>
                </a:lnTo>
                <a:lnTo>
                  <a:pt x="8000" y="2887929"/>
                </a:lnTo>
                <a:lnTo>
                  <a:pt x="29845" y="2920377"/>
                </a:lnTo>
                <a:lnTo>
                  <a:pt x="62357" y="2942247"/>
                </a:lnTo>
                <a:lnTo>
                  <a:pt x="102108" y="2950273"/>
                </a:lnTo>
                <a:lnTo>
                  <a:pt x="4005072" y="2950273"/>
                </a:lnTo>
                <a:lnTo>
                  <a:pt x="4044823" y="2942247"/>
                </a:lnTo>
                <a:lnTo>
                  <a:pt x="4077207" y="2920377"/>
                </a:lnTo>
                <a:lnTo>
                  <a:pt x="4099179" y="2887929"/>
                </a:lnTo>
                <a:lnTo>
                  <a:pt x="4107179" y="2848190"/>
                </a:lnTo>
                <a:lnTo>
                  <a:pt x="4107179" y="101981"/>
                </a:lnTo>
                <a:lnTo>
                  <a:pt x="4099179" y="62230"/>
                </a:lnTo>
                <a:lnTo>
                  <a:pt x="4077207" y="29845"/>
                </a:lnTo>
                <a:lnTo>
                  <a:pt x="4044823" y="8000"/>
                </a:lnTo>
                <a:lnTo>
                  <a:pt x="4005072" y="0"/>
                </a:lnTo>
                <a:close/>
              </a:path>
            </a:pathLst>
          </a:custGeom>
          <a:solidFill>
            <a:srgbClr val="9C92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777866" y="1536953"/>
            <a:ext cx="1276985" cy="2324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350">
                <a:latin typeface="Georgia"/>
                <a:cs typeface="Georgia"/>
              </a:rPr>
              <a:t>Key</a:t>
            </a:r>
            <a:r>
              <a:rPr dirty="0" sz="1350" spc="185">
                <a:latin typeface="Georgia"/>
                <a:cs typeface="Georgia"/>
              </a:rPr>
              <a:t> </a:t>
            </a:r>
            <a:r>
              <a:rPr dirty="0" sz="1350" spc="45">
                <a:latin typeface="Georgia"/>
                <a:cs typeface="Georgia"/>
              </a:rPr>
              <a:t>Takeaways</a:t>
            </a:r>
            <a:endParaRPr sz="135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77866" y="2375408"/>
            <a:ext cx="806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eorgia"/>
                <a:cs typeface="Georgia"/>
              </a:rPr>
              <a:t>•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777866" y="2832608"/>
            <a:ext cx="806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eorgia"/>
                <a:cs typeface="Georgia"/>
              </a:rPr>
              <a:t>•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77866" y="3291585"/>
            <a:ext cx="806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eorgia"/>
                <a:cs typeface="Georgia"/>
              </a:rPr>
              <a:t>•</a:t>
            </a:r>
            <a:endParaRPr sz="1100">
              <a:latin typeface="Georgia"/>
              <a:cs typeface="Georg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77866" y="1891385"/>
            <a:ext cx="3721100" cy="2339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469900" indent="-342900">
              <a:lnSpc>
                <a:spcPct val="130000"/>
              </a:lnSpc>
              <a:spcBef>
                <a:spcPts val="100"/>
              </a:spcBef>
              <a:buChar char="•"/>
              <a:tabLst>
                <a:tab pos="355600" algn="l"/>
              </a:tabLst>
            </a:pPr>
            <a:r>
              <a:rPr dirty="0" sz="1100">
                <a:latin typeface="Georgia"/>
                <a:cs typeface="Georgia"/>
              </a:rPr>
              <a:t>₹7.34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Cr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revenue</a:t>
            </a:r>
            <a:r>
              <a:rPr dirty="0" sz="1100" spc="2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base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with</a:t>
            </a:r>
            <a:r>
              <a:rPr dirty="0" sz="1100" spc="2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clear</a:t>
            </a:r>
            <a:r>
              <a:rPr dirty="0" sz="1100" spc="2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category</a:t>
            </a:r>
            <a:r>
              <a:rPr dirty="0" sz="1100" spc="165">
                <a:latin typeface="Georgia"/>
                <a:cs typeface="Georgia"/>
              </a:rPr>
              <a:t> </a:t>
            </a:r>
            <a:r>
              <a:rPr dirty="0" sz="1100" spc="-50">
                <a:latin typeface="Georgia"/>
                <a:cs typeface="Georgia"/>
              </a:rPr>
              <a:t>&amp; </a:t>
            </a:r>
            <a:r>
              <a:rPr dirty="0" sz="1100">
                <a:latin typeface="Georgia"/>
                <a:cs typeface="Georgia"/>
              </a:rPr>
              <a:t>geographic</a:t>
            </a:r>
            <a:r>
              <a:rPr dirty="0" sz="1100" spc="36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concentration</a:t>
            </a:r>
            <a:endParaRPr sz="1100">
              <a:latin typeface="Georgia"/>
              <a:cs typeface="Georgia"/>
            </a:endParaRPr>
          </a:p>
          <a:p>
            <a:pPr marL="355600" marR="234315">
              <a:lnSpc>
                <a:spcPts val="1800"/>
              </a:lnSpc>
              <a:spcBef>
                <a:spcPts val="40"/>
              </a:spcBef>
            </a:pPr>
            <a:r>
              <a:rPr dirty="0" sz="1100">
                <a:latin typeface="Georgia"/>
                <a:cs typeface="Georgia"/>
              </a:rPr>
              <a:t>13.32%</a:t>
            </a:r>
            <a:r>
              <a:rPr dirty="0" sz="1100" spc="2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cancellation</a:t>
            </a:r>
            <a:r>
              <a:rPr dirty="0" sz="1100" spc="2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rate</a:t>
            </a:r>
            <a:r>
              <a:rPr dirty="0" sz="1100" spc="229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—</a:t>
            </a:r>
            <a:r>
              <a:rPr dirty="0" sz="1100" spc="38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significant</a:t>
            </a:r>
            <a:r>
              <a:rPr dirty="0" sz="1100" spc="240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recovery opportunity</a:t>
            </a:r>
            <a:endParaRPr sz="1100">
              <a:latin typeface="Georgia"/>
              <a:cs typeface="Georgia"/>
            </a:endParaRPr>
          </a:p>
          <a:p>
            <a:pPr marL="355600" marR="479425">
              <a:lnSpc>
                <a:spcPts val="1800"/>
              </a:lnSpc>
            </a:pPr>
            <a:r>
              <a:rPr dirty="0" sz="1100">
                <a:latin typeface="Georgia"/>
                <a:cs typeface="Georgia"/>
              </a:rPr>
              <a:t>'Set'</a:t>
            </a:r>
            <a:r>
              <a:rPr dirty="0" sz="1100" spc="18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consistently</a:t>
            </a:r>
            <a:r>
              <a:rPr dirty="0" sz="1100" spc="21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#1</a:t>
            </a:r>
            <a:r>
              <a:rPr dirty="0" sz="1100" spc="20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category</a:t>
            </a:r>
            <a:r>
              <a:rPr dirty="0" sz="1100" spc="2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across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all</a:t>
            </a:r>
            <a:r>
              <a:rPr dirty="0" sz="1100" spc="175">
                <a:latin typeface="Georgia"/>
                <a:cs typeface="Georgia"/>
              </a:rPr>
              <a:t> </a:t>
            </a:r>
            <a:r>
              <a:rPr dirty="0" sz="1100" spc="-20">
                <a:latin typeface="Georgia"/>
                <a:cs typeface="Georgia"/>
              </a:rPr>
              <a:t>three </a:t>
            </a:r>
            <a:r>
              <a:rPr dirty="0" sz="1100" spc="-10">
                <a:latin typeface="Georgia"/>
                <a:cs typeface="Georgia"/>
              </a:rPr>
              <a:t>months</a:t>
            </a:r>
            <a:endParaRPr sz="1100">
              <a:latin typeface="Georgia"/>
              <a:cs typeface="Georgia"/>
            </a:endParaRPr>
          </a:p>
          <a:p>
            <a:pPr marL="355600" marR="345440">
              <a:lnSpc>
                <a:spcPts val="1730"/>
              </a:lnSpc>
              <a:spcBef>
                <a:spcPts val="70"/>
              </a:spcBef>
            </a:pPr>
            <a:r>
              <a:rPr dirty="0" sz="1100">
                <a:latin typeface="Georgia"/>
                <a:cs typeface="Georgia"/>
              </a:rPr>
              <a:t>Maharashtra</a:t>
            </a:r>
            <a:r>
              <a:rPr dirty="0" sz="1100" spc="37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&amp;</a:t>
            </a:r>
            <a:r>
              <a:rPr dirty="0" sz="1100" spc="254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Karnataka</a:t>
            </a:r>
            <a:r>
              <a:rPr dirty="0" sz="1100" spc="38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are</a:t>
            </a:r>
            <a:r>
              <a:rPr dirty="0" sz="1100" spc="37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highest-priority </a:t>
            </a:r>
            <a:r>
              <a:rPr dirty="0" sz="1100">
                <a:latin typeface="Georgia"/>
                <a:cs typeface="Georgia"/>
              </a:rPr>
              <a:t>states</a:t>
            </a:r>
            <a:r>
              <a:rPr dirty="0" sz="1100" spc="145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for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marketing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</a:pPr>
            <a:r>
              <a:rPr dirty="0" sz="1100" spc="-25">
                <a:latin typeface="Georgia"/>
                <a:cs typeface="Georgia"/>
              </a:rPr>
              <a:t>End-</a:t>
            </a:r>
            <a:r>
              <a:rPr dirty="0" sz="1100" spc="-20">
                <a:latin typeface="Georgia"/>
                <a:cs typeface="Georgia"/>
              </a:rPr>
              <a:t>to-</a:t>
            </a:r>
            <a:r>
              <a:rPr dirty="0" sz="1100">
                <a:latin typeface="Georgia"/>
                <a:cs typeface="Georgia"/>
              </a:rPr>
              <a:t>end</a:t>
            </a:r>
            <a:r>
              <a:rPr dirty="0" sz="1100" spc="130">
                <a:latin typeface="Georgia"/>
                <a:cs typeface="Georgia"/>
              </a:rPr>
              <a:t> </a:t>
            </a:r>
            <a:r>
              <a:rPr dirty="0" sz="1100" spc="45">
                <a:latin typeface="Georgia"/>
                <a:cs typeface="Georgia"/>
              </a:rPr>
              <a:t>workflow:</a:t>
            </a:r>
            <a:r>
              <a:rPr dirty="0" sz="1100" spc="12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data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>
                <a:latin typeface="Georgia"/>
                <a:cs typeface="Georgia"/>
              </a:rPr>
              <a:t>ingestion</a:t>
            </a:r>
            <a:r>
              <a:rPr dirty="0" sz="1100" spc="150">
                <a:latin typeface="Georgia"/>
                <a:cs typeface="Georgia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105">
                <a:latin typeface="Times New Roman"/>
                <a:cs typeface="Times New Roman"/>
              </a:rPr>
              <a:t> </a:t>
            </a:r>
            <a:r>
              <a:rPr dirty="0" sz="1100">
                <a:latin typeface="Georgia"/>
                <a:cs typeface="Georgia"/>
              </a:rPr>
              <a:t>SQL</a:t>
            </a:r>
            <a:r>
              <a:rPr dirty="0" sz="1100" spc="105">
                <a:latin typeface="Georgia"/>
                <a:cs typeface="Georgia"/>
              </a:rPr>
              <a:t> </a:t>
            </a: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Georgia"/>
                <a:cs typeface="Georgia"/>
              </a:rPr>
              <a:t>Power</a:t>
            </a:r>
            <a:r>
              <a:rPr dirty="0" sz="1100" spc="140">
                <a:latin typeface="Georgia"/>
                <a:cs typeface="Georgia"/>
              </a:rPr>
              <a:t> </a:t>
            </a:r>
            <a:r>
              <a:rPr dirty="0" sz="1100" spc="-25">
                <a:latin typeface="Georgia"/>
                <a:cs typeface="Georgia"/>
              </a:rPr>
              <a:t>BI</a:t>
            </a:r>
            <a:endParaRPr sz="1100">
              <a:latin typeface="Georgia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1100">
                <a:latin typeface="Times New Roman"/>
                <a:cs typeface="Times New Roman"/>
              </a:rPr>
              <a:t>→</a:t>
            </a:r>
            <a:r>
              <a:rPr dirty="0" sz="1100" spc="120">
                <a:latin typeface="Times New Roman"/>
                <a:cs typeface="Times New Roman"/>
              </a:rPr>
              <a:t> </a:t>
            </a:r>
            <a:r>
              <a:rPr dirty="0" sz="1100">
                <a:latin typeface="Georgia"/>
                <a:cs typeface="Georgia"/>
              </a:rPr>
              <a:t>business</a:t>
            </a:r>
            <a:r>
              <a:rPr dirty="0" sz="1100" spc="155">
                <a:latin typeface="Georgia"/>
                <a:cs typeface="Georgia"/>
              </a:rPr>
              <a:t> </a:t>
            </a:r>
            <a:r>
              <a:rPr dirty="0" sz="1100" spc="-10">
                <a:latin typeface="Georgia"/>
                <a:cs typeface="Georgia"/>
              </a:rPr>
              <a:t>recommendations.</a:t>
            </a:r>
            <a:endParaRPr sz="1100">
              <a:latin typeface="Georgia"/>
              <a:cs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Sweety Roy</dc:creator>
  <dc:title>Amazon India: Sales Performance Analysis</dc:title>
  <dcterms:created xsi:type="dcterms:W3CDTF">2026-05-28T08:15:02Z</dcterms:created>
  <dcterms:modified xsi:type="dcterms:W3CDTF">2026-05-28T08:15:02Z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2026-05-28T00:00:00Z</vt:filetime>
  </property>
  <property fmtid="{D5CDD505-2E9C-101B-9397-08002B2CF9AE}" pid="4" name="Creator">
    <vt:lpwstr>Microsoft® PowerPoint® 2016</vt:lpwstr>
  </property>
  <property fmtid="{D5CDD505-2E9C-101B-9397-08002B2CF9AE}" pid="5" name="LastSaved">
    <vt:filetime>2026-05-28T00:00:00Z</vt:filetime>
  </property>
  <property fmtid="{D5CDD505-2E9C-101B-9397-08002B2CF9AE}" pid="6" name="Producer">
    <vt:lpwstr>Microsoft® PowerPoint® 2016</vt:lpwstr>
  </property>
</Properties>
</file>